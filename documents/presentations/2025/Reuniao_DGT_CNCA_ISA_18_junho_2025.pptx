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258" r:id="rId6"/>
    <p:sldId id="259" r:id="rId7"/>
    <p:sldId id="257" r:id="rId8"/>
    <p:sldId id="260" r:id="rId9"/>
    <p:sldId id="261" r:id="rId10"/>
    <p:sldId id="264" r:id="rId11"/>
    <p:sldId id="263" r:id="rId12"/>
    <p:sldId id="265" r:id="rId13"/>
    <p:sldId id="266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E49C67-586C-4944-95EB-162000C0F767}" type="datetimeFigureOut">
              <a:rPr lang="pt-PT" smtClean="0"/>
              <a:t>18/06/2025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755166-C334-4B37-9EFE-E2EB751C6FE7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45883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0CC57-581C-4E1A-8E30-2928AEC32F3F}" type="datetime1">
              <a:rPr lang="pt-PT" smtClean="0"/>
              <a:t>18/06/2025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Reunião DGT/CNCA/ISA 18 junho 2025</a:t>
            </a:r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9533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AC28-9303-4586-AF93-EDC724E8DC62}" type="datetime1">
              <a:rPr lang="pt-PT" smtClean="0"/>
              <a:t>18/06/2025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Reunião DGT/CNCA/ISA 18 junho 2025</a:t>
            </a:r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8450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D7F8B-16DA-454C-BBD9-A455B29BD66A}" type="datetime1">
              <a:rPr lang="pt-PT" smtClean="0"/>
              <a:t>18/06/2025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Reunião DGT/CNCA/ISA 18 junho 2025</a:t>
            </a:r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91900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40162-6FB7-4BE3-A24E-19D7959A96B7}" type="datetime1">
              <a:rPr lang="pt-PT" smtClean="0"/>
              <a:t>18/06/2025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Reunião DGT/CNCA/ISA 18 junho 2025</a:t>
            </a:r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41122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AC055-1A15-4071-BA52-C6C50474A4B9}" type="datetime1">
              <a:rPr lang="pt-PT" smtClean="0"/>
              <a:t>18/06/2025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Reunião DGT/CNCA/ISA 18 junho 2025</a:t>
            </a:r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63149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B6D12-B3AF-4CAA-9991-0696A3A3939F}" type="datetime1">
              <a:rPr lang="pt-PT" smtClean="0"/>
              <a:t>18/06/2025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Reunião DGT/CNCA/ISA 18 junho 2025</a:t>
            </a:r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51850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73254-B813-4F9B-BEF2-F9E673BA1DBB}" type="datetime1">
              <a:rPr lang="pt-PT" smtClean="0"/>
              <a:t>18/06/2025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Reunião DGT/CNCA/ISA 18 junho 2025</a:t>
            </a:r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87605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9AAE6-8B65-4E1B-891E-045739A8F036}" type="datetime1">
              <a:rPr lang="pt-PT" smtClean="0"/>
              <a:t>18/06/2025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Reunião DGT/CNCA/ISA 18 junho 2025</a:t>
            </a:r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68259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DC78-4B97-47CB-907E-A53488F1321A}" type="datetime1">
              <a:rPr lang="pt-PT" smtClean="0"/>
              <a:t>18/06/2025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Reunião DGT/CNCA/ISA 18 junho 2025</a:t>
            </a:r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07000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73B90-C436-4B7A-9515-10FE4A7C5BAA}" type="datetime1">
              <a:rPr lang="pt-PT" smtClean="0"/>
              <a:t>18/06/2025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Reunião DGT/CNCA/ISA 18 junho 2025</a:t>
            </a:r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82380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8B4B9-6868-4290-AE7C-C0990033220F}" type="datetime1">
              <a:rPr lang="pt-PT" smtClean="0"/>
              <a:t>18/06/2025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Reunião DGT/CNCA/ISA 18 junho 2025</a:t>
            </a:r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00973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B164C6-5C98-4DD3-A445-CA030ED25DA9}" type="datetime1">
              <a:rPr lang="pt-PT" smtClean="0"/>
              <a:t>18/06/2025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PT" smtClean="0"/>
              <a:t>Reunião DGT/CNCA/ISA 18 junho 2025</a:t>
            </a:r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11D2E9-C720-4BE3-A710-5EBD8EAFCF6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01972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2change/vegetation_los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microsoft.com/office/2007/relationships/hdphoto" Target="../media/hdphoto3.wdp"/><Relationship Id="rId3" Type="http://schemas.openxmlformats.org/officeDocument/2006/relationships/image" Target="../media/image6.png"/><Relationship Id="rId21" Type="http://schemas.openxmlformats.org/officeDocument/2006/relationships/image" Target="../media/image20.png"/><Relationship Id="rId7" Type="http://schemas.openxmlformats.org/officeDocument/2006/relationships/image" Target="../media/image9.jpeg"/><Relationship Id="rId12" Type="http://schemas.openxmlformats.org/officeDocument/2006/relationships/image" Target="../media/image14.png"/><Relationship Id="rId17" Type="http://schemas.microsoft.com/office/2007/relationships/hdphoto" Target="../media/hdphoto2.wdp"/><Relationship Id="rId2" Type="http://schemas.openxmlformats.org/officeDocument/2006/relationships/image" Target="../media/image5.png"/><Relationship Id="rId16" Type="http://schemas.openxmlformats.org/officeDocument/2006/relationships/image" Target="../media/image18.png"/><Relationship Id="rId20" Type="http://schemas.microsoft.com/office/2007/relationships/hdphoto" Target="../media/hdphoto4.wdp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19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microsoft.com/office/2007/relationships/hdphoto" Target="../media/hdphoto5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1556" y="859457"/>
            <a:ext cx="11367435" cy="1137274"/>
          </a:xfrm>
        </p:spPr>
        <p:txBody>
          <a:bodyPr>
            <a:normAutofit/>
          </a:bodyPr>
          <a:lstStyle/>
          <a:p>
            <a:r>
              <a:rPr lang="en-US" sz="4400" dirty="0" err="1" smtClean="0"/>
              <a:t>Reunião</a:t>
            </a:r>
            <a:r>
              <a:rPr lang="en-US" sz="4400" dirty="0" smtClean="0"/>
              <a:t> DGT/CNCA/ISA, 18 d </a:t>
            </a:r>
            <a:r>
              <a:rPr lang="en-US" sz="4400" dirty="0" err="1" smtClean="0"/>
              <a:t>ejunho</a:t>
            </a:r>
            <a:r>
              <a:rPr lang="en-US" sz="4400" dirty="0" smtClean="0"/>
              <a:t> de 2025</a:t>
            </a:r>
            <a:endParaRPr lang="pt-PT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333" y="2412763"/>
            <a:ext cx="11117467" cy="789599"/>
          </a:xfrm>
        </p:spPr>
        <p:txBody>
          <a:bodyPr>
            <a:normAutofit lnSpcReduction="10000"/>
          </a:bodyPr>
          <a:lstStyle/>
          <a:p>
            <a:r>
              <a:rPr lang="en-US" sz="2800" dirty="0" err="1" smtClean="0"/>
              <a:t>Colaboração</a:t>
            </a:r>
            <a:r>
              <a:rPr lang="en-US" sz="2800" dirty="0" smtClean="0"/>
              <a:t> para o </a:t>
            </a:r>
            <a:r>
              <a:rPr lang="en-US" sz="2800" dirty="0" err="1" smtClean="0"/>
              <a:t>problema</a:t>
            </a:r>
            <a:r>
              <a:rPr lang="en-US" sz="2800" dirty="0" smtClean="0"/>
              <a:t> de </a:t>
            </a:r>
            <a:r>
              <a:rPr lang="en-US" sz="2800" dirty="0" err="1" smtClean="0"/>
              <a:t>criação</a:t>
            </a:r>
            <a:r>
              <a:rPr lang="en-US" sz="2800" dirty="0" smtClean="0"/>
              <a:t> de um </a:t>
            </a:r>
            <a:r>
              <a:rPr lang="en-US" sz="2800" dirty="0" err="1" smtClean="0"/>
              <a:t>produto</a:t>
            </a:r>
            <a:r>
              <a:rPr lang="en-US" sz="2800" dirty="0" smtClean="0"/>
              <a:t> </a:t>
            </a:r>
            <a:r>
              <a:rPr lang="pt-PT" sz="2800" dirty="0" smtClean="0"/>
              <a:t>de perda recente de floresta e mato com base em análise automática de imagens de satélite</a:t>
            </a:r>
            <a:endParaRPr lang="en-US" sz="2800" dirty="0"/>
          </a:p>
          <a:p>
            <a:endParaRPr lang="pt-PT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3780951" y="4467860"/>
            <a:ext cx="52265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Manuel Campagnolo, ISA</a:t>
            </a:r>
          </a:p>
          <a:p>
            <a:r>
              <a:rPr lang="en-US" sz="2400" dirty="0" smtClean="0"/>
              <a:t>Daniel </a:t>
            </a:r>
            <a:r>
              <a:rPr lang="en-US" sz="2400" dirty="0" err="1" smtClean="0"/>
              <a:t>Moraes</a:t>
            </a:r>
            <a:r>
              <a:rPr lang="en-US" sz="2400" dirty="0" smtClean="0"/>
              <a:t>, IMS/Nova, DGT</a:t>
            </a:r>
          </a:p>
          <a:p>
            <a:r>
              <a:rPr lang="en-US" sz="2400" dirty="0" smtClean="0"/>
              <a:t>Sara Caetano, ISA</a:t>
            </a:r>
          </a:p>
          <a:p>
            <a:r>
              <a:rPr lang="en-US" sz="2400" dirty="0" smtClean="0"/>
              <a:t>Dominic Welsh, ISA</a:t>
            </a:r>
            <a:endParaRPr lang="pt-PT" sz="24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dirty="0" smtClean="0"/>
              <a:t>Reunião DGT/CNCA/ISA 18 junho 2025</a:t>
            </a:r>
            <a:endParaRPr lang="pt-P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1</a:t>
            </a:fld>
            <a:endParaRPr lang="pt-PT"/>
          </a:p>
        </p:txBody>
      </p:sp>
      <p:sp>
        <p:nvSpPr>
          <p:cNvPr id="7" name="TextBox 6"/>
          <p:cNvSpPr txBox="1"/>
          <p:nvPr/>
        </p:nvSpPr>
        <p:spPr>
          <a:xfrm>
            <a:off x="2665106" y="3618394"/>
            <a:ext cx="625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projeto</a:t>
            </a:r>
            <a:r>
              <a:rPr lang="en-US" dirty="0" smtClean="0"/>
              <a:t> </a:t>
            </a:r>
            <a:r>
              <a:rPr lang="en-US" dirty="0" err="1" smtClean="0"/>
              <a:t>S2change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github.com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S2change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vegetation_loss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99933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8356" y="394637"/>
            <a:ext cx="10247698" cy="3147460"/>
          </a:xfrm>
        </p:spPr>
        <p:txBody>
          <a:bodyPr>
            <a:normAutofit/>
          </a:bodyPr>
          <a:lstStyle/>
          <a:p>
            <a:pPr algn="l"/>
            <a:r>
              <a:rPr lang="en-US" dirty="0" err="1" smtClean="0"/>
              <a:t>Objectivo</a:t>
            </a:r>
            <a:r>
              <a:rPr lang="en-US" dirty="0" smtClean="0"/>
              <a:t> da </a:t>
            </a:r>
            <a:r>
              <a:rPr lang="en-US" dirty="0" err="1" smtClean="0"/>
              <a:t>colaboração</a:t>
            </a:r>
            <a:r>
              <a:rPr lang="en-US" dirty="0" smtClean="0"/>
              <a:t> ISA/DGT: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pt-PT" dirty="0" smtClean="0"/>
              <a:t>Desenvolver metodologias eficazes à escala nacional e eficientes a nível computacional para a criação sistemática de um produto nacional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pt-PT" dirty="0" smtClean="0"/>
              <a:t>Produto em formato vetorial de delimitação de manchas superiores a 0.5 </a:t>
            </a:r>
            <a:r>
              <a:rPr lang="pt-PT" dirty="0" err="1" smtClean="0"/>
              <a:t>ha</a:t>
            </a:r>
            <a:r>
              <a:rPr lang="pt-PT" dirty="0" smtClean="0"/>
              <a:t> de perda recente de floresta e mato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pt-PT" dirty="0" smtClean="0"/>
              <a:t>A geração do produto é baseada em análise automática de imagens de satélite</a:t>
            </a:r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Reunião DGT/CNCA/ISA 18 junho 2025</a:t>
            </a:r>
            <a:endParaRPr lang="pt-P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2</a:t>
            </a:fld>
            <a:endParaRPr lang="pt-PT"/>
          </a:p>
        </p:txBody>
      </p:sp>
      <p:sp>
        <p:nvSpPr>
          <p:cNvPr id="8" name="TextBox 7"/>
          <p:cNvSpPr txBox="1"/>
          <p:nvPr/>
        </p:nvSpPr>
        <p:spPr>
          <a:xfrm>
            <a:off x="898356" y="3696101"/>
            <a:ext cx="94231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Aspetos</a:t>
            </a:r>
            <a:r>
              <a:rPr lang="en-US" sz="2400" dirty="0" smtClean="0"/>
              <a:t> </a:t>
            </a:r>
            <a:r>
              <a:rPr lang="en-US" sz="2400" dirty="0" err="1" smtClean="0"/>
              <a:t>em</a:t>
            </a:r>
            <a:r>
              <a:rPr lang="en-US" sz="2400" dirty="0" smtClean="0"/>
              <a:t> </a:t>
            </a:r>
            <a:r>
              <a:rPr lang="en-US" sz="2400" dirty="0" err="1" smtClean="0"/>
              <a:t>desenvolvimento</a:t>
            </a:r>
            <a:r>
              <a:rPr lang="en-US" sz="2400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Dados de </a:t>
            </a:r>
            <a:r>
              <a:rPr lang="en-US" sz="2400" dirty="0" err="1" smtClean="0"/>
              <a:t>referência</a:t>
            </a:r>
            <a:r>
              <a:rPr lang="en-US" sz="2400" dirty="0" smtClean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 smtClean="0"/>
              <a:t>Algoritmos</a:t>
            </a:r>
            <a:r>
              <a:rPr lang="en-US" sz="2400" dirty="0" smtClean="0"/>
              <a:t> de </a:t>
            </a:r>
            <a:r>
              <a:rPr lang="en-US" sz="2400" dirty="0" err="1" smtClean="0"/>
              <a:t>deteção</a:t>
            </a:r>
            <a:r>
              <a:rPr lang="en-US" sz="2400" dirty="0" smtClean="0"/>
              <a:t> de </a:t>
            </a:r>
            <a:r>
              <a:rPr lang="en-US" sz="2400" dirty="0" err="1" smtClean="0"/>
              <a:t>alterações</a:t>
            </a:r>
            <a:r>
              <a:rPr lang="en-US" sz="2400" dirty="0" smtClean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 smtClean="0"/>
              <a:t>Algoritmos</a:t>
            </a:r>
            <a:r>
              <a:rPr lang="en-US" sz="2400" dirty="0" smtClean="0"/>
              <a:t> de </a:t>
            </a:r>
            <a:r>
              <a:rPr lang="en-US" sz="2400" dirty="0" err="1" smtClean="0"/>
              <a:t>classificação</a:t>
            </a:r>
            <a:r>
              <a:rPr lang="en-US" sz="2400" dirty="0" smtClean="0"/>
              <a:t> (</a:t>
            </a:r>
            <a:r>
              <a:rPr lang="en-US" sz="2400" dirty="0" err="1" smtClean="0"/>
              <a:t>grafos</a:t>
            </a:r>
            <a:r>
              <a:rPr lang="en-US" sz="2400" dirty="0" smtClean="0"/>
              <a:t>, deep learning)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 smtClean="0"/>
              <a:t>Validação</a:t>
            </a:r>
            <a:r>
              <a:rPr lang="en-US" sz="2400" dirty="0" smtClean="0"/>
              <a:t> dos </a:t>
            </a:r>
            <a:r>
              <a:rPr lang="en-US" sz="2400" dirty="0" err="1" smtClean="0"/>
              <a:t>resultados</a:t>
            </a:r>
            <a:r>
              <a:rPr lang="en-US" sz="2400" dirty="0" smtClean="0"/>
              <a:t> (</a:t>
            </a:r>
            <a:r>
              <a:rPr lang="en-US" sz="2400" dirty="0" err="1" smtClean="0"/>
              <a:t>precisão</a:t>
            </a:r>
            <a:r>
              <a:rPr lang="en-US" sz="2400" dirty="0" smtClean="0"/>
              <a:t> do </a:t>
            </a:r>
            <a:r>
              <a:rPr lang="en-US" sz="2400" dirty="0" err="1" smtClean="0"/>
              <a:t>algoritmo</a:t>
            </a:r>
            <a:r>
              <a:rPr lang="en-US" sz="2400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 smtClean="0"/>
              <a:t>Implementação</a:t>
            </a:r>
            <a:endParaRPr lang="pt-PT" sz="2400" dirty="0"/>
          </a:p>
        </p:txBody>
      </p:sp>
    </p:spTree>
    <p:extLst>
      <p:ext uri="{BB962C8B-B14F-4D97-AF65-F5344CB8AC3E}">
        <p14:creationId xmlns:p14="http://schemas.microsoft.com/office/powerpoint/2010/main" val="961485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Reunião DGT/CNCA/ISA 18 junho 2025</a:t>
            </a:r>
            <a:endParaRPr lang="pt-P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3</a:t>
            </a:fld>
            <a:endParaRPr lang="pt-PT"/>
          </a:p>
        </p:txBody>
      </p:sp>
      <p:sp>
        <p:nvSpPr>
          <p:cNvPr id="7" name="TextBox 6"/>
          <p:cNvSpPr txBox="1"/>
          <p:nvPr/>
        </p:nvSpPr>
        <p:spPr>
          <a:xfrm>
            <a:off x="828918" y="1312032"/>
            <a:ext cx="597408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Imagens</a:t>
            </a:r>
            <a:r>
              <a:rPr lang="en-US" sz="2400" dirty="0" smtClean="0"/>
              <a:t> de </a:t>
            </a:r>
            <a:r>
              <a:rPr lang="en-US" sz="2400" dirty="0" err="1" smtClean="0"/>
              <a:t>satélite</a:t>
            </a:r>
            <a:endParaRPr lang="en-US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 smtClean="0"/>
              <a:t>Coleção</a:t>
            </a:r>
            <a:r>
              <a:rPr lang="en-US" sz="2400" dirty="0" smtClean="0"/>
              <a:t> de </a:t>
            </a:r>
            <a:r>
              <a:rPr lang="en-US" sz="2400" dirty="0" err="1" smtClean="0"/>
              <a:t>imagens</a:t>
            </a:r>
            <a:r>
              <a:rPr lang="en-US" sz="2400" dirty="0" smtClean="0"/>
              <a:t> Sentinel-2 para Portugal Continental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 smtClean="0"/>
              <a:t>Cada</a:t>
            </a:r>
            <a:r>
              <a:rPr lang="en-US" sz="2400" dirty="0" smtClean="0"/>
              <a:t> tile 100 km </a:t>
            </a:r>
            <a:r>
              <a:rPr lang="en-US" sz="2400" dirty="0" err="1" smtClean="0"/>
              <a:t>por</a:t>
            </a:r>
            <a:r>
              <a:rPr lang="en-US" sz="2400" dirty="0" smtClean="0"/>
              <a:t> 100 km, 13 </a:t>
            </a:r>
            <a:r>
              <a:rPr lang="en-US" sz="2400" dirty="0" err="1" smtClean="0"/>
              <a:t>bandas</a:t>
            </a:r>
            <a:r>
              <a:rPr lang="en-US" sz="2400" dirty="0" smtClean="0"/>
              <a:t>,  </a:t>
            </a:r>
            <a:r>
              <a:rPr lang="en-US" sz="2400" dirty="0" err="1" smtClean="0"/>
              <a:t>ocupa</a:t>
            </a:r>
            <a:r>
              <a:rPr lang="en-US" sz="2400" dirty="0" smtClean="0"/>
              <a:t> ~</a:t>
            </a:r>
            <a:r>
              <a:rPr lang="en-US" sz="2400" dirty="0" err="1" smtClean="0"/>
              <a:t>1Gb</a:t>
            </a:r>
            <a:endParaRPr lang="en-US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A </a:t>
            </a:r>
            <a:r>
              <a:rPr lang="en-US" sz="2400" dirty="0" err="1" smtClean="0"/>
              <a:t>resolução</a:t>
            </a:r>
            <a:r>
              <a:rPr lang="en-US" sz="2400" dirty="0" smtClean="0"/>
              <a:t> temporal é de 5 </a:t>
            </a:r>
            <a:r>
              <a:rPr lang="en-US" sz="2400" dirty="0" err="1" smtClean="0"/>
              <a:t>dias</a:t>
            </a:r>
            <a:endParaRPr lang="en-US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As </a:t>
            </a:r>
            <a:r>
              <a:rPr lang="en-US" sz="2400" dirty="0" err="1" smtClean="0"/>
              <a:t>imagens</a:t>
            </a:r>
            <a:r>
              <a:rPr lang="en-US" sz="2400" dirty="0" smtClean="0"/>
              <a:t> Sentinel-2 </a:t>
            </a:r>
            <a:r>
              <a:rPr lang="en-US" sz="2400" dirty="0" err="1" smtClean="0"/>
              <a:t>estão</a:t>
            </a:r>
            <a:r>
              <a:rPr lang="en-US" sz="2400" dirty="0" smtClean="0"/>
              <a:t> </a:t>
            </a:r>
            <a:r>
              <a:rPr lang="en-US" sz="2400" dirty="0" err="1" smtClean="0"/>
              <a:t>disponíveis</a:t>
            </a:r>
            <a:r>
              <a:rPr lang="en-US" sz="2400" dirty="0" smtClean="0"/>
              <a:t> </a:t>
            </a:r>
            <a:r>
              <a:rPr lang="en-US" sz="2400" dirty="0" err="1" smtClean="0"/>
              <a:t>desde</a:t>
            </a:r>
            <a:r>
              <a:rPr lang="en-US" sz="2400" dirty="0" smtClean="0"/>
              <a:t> 2016</a:t>
            </a:r>
            <a:endParaRPr lang="pt-PT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494" y="741144"/>
            <a:ext cx="3682814" cy="53746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8918" y="4599619"/>
            <a:ext cx="4706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Dados de </a:t>
            </a:r>
            <a:r>
              <a:rPr lang="en-US" sz="2400" dirty="0" err="1" smtClean="0"/>
              <a:t>referência</a:t>
            </a:r>
            <a:endParaRPr lang="pt-PT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763604" y="339676"/>
            <a:ext cx="4706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Dados</a:t>
            </a:r>
            <a:endParaRPr lang="pt-PT" sz="2400" dirty="0"/>
          </a:p>
        </p:txBody>
      </p:sp>
    </p:spTree>
    <p:extLst>
      <p:ext uri="{BB962C8B-B14F-4D97-AF65-F5344CB8AC3E}">
        <p14:creationId xmlns:p14="http://schemas.microsoft.com/office/powerpoint/2010/main" val="2345510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230" y="823559"/>
            <a:ext cx="7552034" cy="43658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1641" y="5263503"/>
            <a:ext cx="97601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Série</a:t>
            </a:r>
            <a:r>
              <a:rPr lang="en-US" dirty="0" smtClean="0"/>
              <a:t> temporal do </a:t>
            </a:r>
            <a:r>
              <a:rPr lang="en-US" dirty="0" err="1" smtClean="0"/>
              <a:t>índice</a:t>
            </a:r>
            <a:r>
              <a:rPr lang="en-US" dirty="0" smtClean="0"/>
              <a:t> </a:t>
            </a:r>
            <a:r>
              <a:rPr lang="en-US" dirty="0" err="1" smtClean="0"/>
              <a:t>espetral</a:t>
            </a:r>
            <a:r>
              <a:rPr lang="en-US" dirty="0" smtClean="0"/>
              <a:t> NDVI </a:t>
            </a:r>
            <a:r>
              <a:rPr lang="en-US" dirty="0" err="1" smtClean="0"/>
              <a:t>derivado</a:t>
            </a:r>
            <a:r>
              <a:rPr lang="en-US" dirty="0" smtClean="0"/>
              <a:t> de </a:t>
            </a:r>
            <a:r>
              <a:rPr lang="en-US" dirty="0" err="1" smtClean="0"/>
              <a:t>imagens</a:t>
            </a:r>
            <a:r>
              <a:rPr lang="en-US" dirty="0" smtClean="0"/>
              <a:t> Sentinel-2 (</a:t>
            </a:r>
            <a:r>
              <a:rPr lang="en-US" dirty="0" err="1" smtClean="0"/>
              <a:t>resolução</a:t>
            </a:r>
            <a:r>
              <a:rPr lang="en-US" dirty="0" smtClean="0"/>
              <a:t> </a:t>
            </a:r>
            <a:r>
              <a:rPr lang="en-US" dirty="0" err="1" smtClean="0"/>
              <a:t>10m</a:t>
            </a:r>
            <a:r>
              <a:rPr lang="en-US" dirty="0" smtClean="0"/>
              <a:t>) </a:t>
            </a:r>
            <a:r>
              <a:rPr lang="en-US" dirty="0" err="1" smtClean="0"/>
              <a:t>sobre</a:t>
            </a:r>
            <a:r>
              <a:rPr lang="en-US" dirty="0" smtClean="0"/>
              <a:t> um </a:t>
            </a:r>
            <a:r>
              <a:rPr lang="en-US" dirty="0" err="1" smtClean="0"/>
              <a:t>talhão</a:t>
            </a:r>
            <a:r>
              <a:rPr lang="en-US" dirty="0" smtClean="0"/>
              <a:t> no </a:t>
            </a:r>
            <a:r>
              <a:rPr lang="en-US" dirty="0" err="1" smtClean="0"/>
              <a:t>qual</a:t>
            </a:r>
            <a:r>
              <a:rPr lang="en-US" dirty="0" smtClean="0"/>
              <a:t> </a:t>
            </a:r>
            <a:r>
              <a:rPr lang="en-US" dirty="0" err="1" smtClean="0"/>
              <a:t>foram</a:t>
            </a:r>
            <a:r>
              <a:rPr lang="en-US" dirty="0" smtClean="0"/>
              <a:t> </a:t>
            </a:r>
            <a:r>
              <a:rPr lang="en-US" dirty="0" err="1" smtClean="0"/>
              <a:t>realizados</a:t>
            </a:r>
            <a:r>
              <a:rPr lang="en-US" dirty="0" smtClean="0"/>
              <a:t> </a:t>
            </a:r>
            <a:r>
              <a:rPr lang="en-US" dirty="0" err="1" smtClean="0"/>
              <a:t>cortes</a:t>
            </a:r>
            <a:r>
              <a:rPr lang="en-US" dirty="0" smtClean="0"/>
              <a:t> </a:t>
            </a:r>
            <a:r>
              <a:rPr lang="en-US" dirty="0" err="1" smtClean="0"/>
              <a:t>rasos</a:t>
            </a:r>
            <a:r>
              <a:rPr lang="en-US" dirty="0" smtClean="0"/>
              <a:t> de </a:t>
            </a:r>
            <a:r>
              <a:rPr lang="en-US" dirty="0" err="1" smtClean="0"/>
              <a:t>eucalipto</a:t>
            </a:r>
            <a:r>
              <a:rPr lang="en-US" dirty="0" smtClean="0"/>
              <a:t>. A </a:t>
            </a:r>
            <a:r>
              <a:rPr lang="en-US" dirty="0" err="1" smtClean="0"/>
              <a:t>análise</a:t>
            </a:r>
            <a:r>
              <a:rPr lang="en-US" dirty="0" smtClean="0"/>
              <a:t> das </a:t>
            </a:r>
            <a:r>
              <a:rPr lang="en-US" dirty="0" err="1" smtClean="0"/>
              <a:t>imagens</a:t>
            </a:r>
            <a:r>
              <a:rPr lang="en-US" dirty="0" smtClean="0"/>
              <a:t> </a:t>
            </a:r>
            <a:r>
              <a:rPr lang="en-US" dirty="0" err="1" smtClean="0"/>
              <a:t>permite</a:t>
            </a:r>
            <a:r>
              <a:rPr lang="en-US" dirty="0" smtClean="0"/>
              <a:t> </a:t>
            </a:r>
            <a:r>
              <a:rPr lang="en-US" dirty="0" err="1" smtClean="0"/>
              <a:t>registar</a:t>
            </a:r>
            <a:r>
              <a:rPr lang="en-US" dirty="0" smtClean="0"/>
              <a:t> para </a:t>
            </a:r>
            <a:r>
              <a:rPr lang="en-US" dirty="0" err="1" smtClean="0"/>
              <a:t>cada</a:t>
            </a:r>
            <a:r>
              <a:rPr lang="en-US" dirty="0" smtClean="0"/>
              <a:t> local a data da </a:t>
            </a:r>
            <a:r>
              <a:rPr lang="en-US" dirty="0" err="1" smtClean="0"/>
              <a:t>imagem</a:t>
            </a:r>
            <a:r>
              <a:rPr lang="en-US" dirty="0" smtClean="0"/>
              <a:t> anterior (</a:t>
            </a:r>
            <a:r>
              <a:rPr lang="en-US" dirty="0" err="1" smtClean="0"/>
              <a:t>pré</a:t>
            </a:r>
            <a:r>
              <a:rPr lang="en-US" dirty="0" smtClean="0"/>
              <a:t>) e posterior (</a:t>
            </a:r>
            <a:r>
              <a:rPr lang="en-US" dirty="0" err="1" smtClean="0"/>
              <a:t>pós</a:t>
            </a:r>
            <a:r>
              <a:rPr lang="en-US" dirty="0" smtClean="0"/>
              <a:t>) à </a:t>
            </a:r>
            <a:r>
              <a:rPr lang="en-US" dirty="0" err="1" smtClean="0"/>
              <a:t>alteração</a:t>
            </a:r>
            <a:r>
              <a:rPr lang="en-US" dirty="0" smtClean="0"/>
              <a:t>. </a:t>
            </a:r>
            <a:endParaRPr lang="pt-P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Reunião DGT/CNCA/ISA 18 junho 2025</a:t>
            </a:r>
            <a:endParaRPr lang="pt-P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4</a:t>
            </a:fld>
            <a:endParaRPr lang="pt-PT"/>
          </a:p>
        </p:txBody>
      </p:sp>
      <p:sp>
        <p:nvSpPr>
          <p:cNvPr id="8" name="TextBox 7"/>
          <p:cNvSpPr txBox="1"/>
          <p:nvPr/>
        </p:nvSpPr>
        <p:spPr>
          <a:xfrm>
            <a:off x="879718" y="232855"/>
            <a:ext cx="9429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Exemplo</a:t>
            </a:r>
            <a:r>
              <a:rPr lang="en-US" sz="2400" dirty="0" smtClean="0"/>
              <a:t> de dados de </a:t>
            </a:r>
            <a:r>
              <a:rPr lang="en-US" sz="2400" dirty="0" err="1" smtClean="0"/>
              <a:t>referência</a:t>
            </a:r>
            <a:r>
              <a:rPr lang="en-US" sz="2400" dirty="0" smtClean="0"/>
              <a:t>: </a:t>
            </a:r>
            <a:r>
              <a:rPr lang="en-US" sz="2400" dirty="0" err="1" smtClean="0"/>
              <a:t>informação</a:t>
            </a:r>
            <a:r>
              <a:rPr lang="en-US" sz="2400" dirty="0" smtClean="0"/>
              <a:t> </a:t>
            </a:r>
            <a:r>
              <a:rPr lang="en-US" sz="2400" dirty="0" err="1" smtClean="0"/>
              <a:t>vetorial</a:t>
            </a:r>
            <a:r>
              <a:rPr lang="en-US" sz="2400" dirty="0"/>
              <a:t> </a:t>
            </a:r>
            <a:r>
              <a:rPr lang="en-US" sz="2400" dirty="0" err="1" smtClean="0"/>
              <a:t>sobre</a:t>
            </a:r>
            <a:r>
              <a:rPr lang="en-US" sz="2400" dirty="0" smtClean="0"/>
              <a:t> </a:t>
            </a:r>
            <a:r>
              <a:rPr lang="en-US" sz="2400" dirty="0" err="1" smtClean="0"/>
              <a:t>cortes</a:t>
            </a:r>
            <a:endParaRPr lang="pt-PT" sz="2400" dirty="0"/>
          </a:p>
        </p:txBody>
      </p:sp>
    </p:spTree>
    <p:extLst>
      <p:ext uri="{BB962C8B-B14F-4D97-AF65-F5344CB8AC3E}">
        <p14:creationId xmlns:p14="http://schemas.microsoft.com/office/powerpoint/2010/main" val="4086219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68046" y="5618080"/>
            <a:ext cx="8712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Exemplo</a:t>
            </a:r>
            <a:r>
              <a:rPr lang="en-US" dirty="0" smtClean="0"/>
              <a:t> de dados de </a:t>
            </a:r>
            <a:r>
              <a:rPr lang="en-US" dirty="0" err="1" smtClean="0"/>
              <a:t>referência</a:t>
            </a:r>
            <a:r>
              <a:rPr lang="en-US" dirty="0" smtClean="0"/>
              <a:t> para </a:t>
            </a:r>
            <a:r>
              <a:rPr lang="en-US" dirty="0" err="1" smtClean="0"/>
              <a:t>parametrizar</a:t>
            </a:r>
            <a:r>
              <a:rPr lang="en-US" dirty="0" smtClean="0"/>
              <a:t>/</a:t>
            </a:r>
            <a:r>
              <a:rPr lang="en-US" dirty="0" err="1" smtClean="0"/>
              <a:t>validar</a:t>
            </a:r>
            <a:r>
              <a:rPr lang="en-US" dirty="0" smtClean="0"/>
              <a:t> um </a:t>
            </a:r>
            <a:r>
              <a:rPr lang="en-US" dirty="0" err="1" smtClean="0"/>
              <a:t>modelo</a:t>
            </a:r>
            <a:r>
              <a:rPr lang="en-US" dirty="0" smtClean="0"/>
              <a:t> de </a:t>
            </a:r>
            <a:r>
              <a:rPr lang="en-US" dirty="0" err="1" smtClean="0"/>
              <a:t>deteção</a:t>
            </a:r>
            <a:r>
              <a:rPr lang="en-US" dirty="0" smtClean="0"/>
              <a:t> (CCD)</a:t>
            </a:r>
            <a:endParaRPr lang="pt-P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Reunião DGT/CNCA/ISA 18 junho 2025</a:t>
            </a:r>
            <a:endParaRPr lang="pt-P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5</a:t>
            </a:fld>
            <a:endParaRPr lang="pt-PT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286" y="945260"/>
            <a:ext cx="6218356" cy="46163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3433" y="242494"/>
            <a:ext cx="4706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Dados de </a:t>
            </a:r>
            <a:r>
              <a:rPr lang="en-US" sz="2400" dirty="0" err="1" smtClean="0"/>
              <a:t>referência</a:t>
            </a:r>
            <a:endParaRPr lang="pt-PT" sz="2400" dirty="0"/>
          </a:p>
        </p:txBody>
      </p:sp>
    </p:spTree>
    <p:extLst>
      <p:ext uri="{BB962C8B-B14F-4D97-AF65-F5344CB8AC3E}">
        <p14:creationId xmlns:p14="http://schemas.microsoft.com/office/powerpoint/2010/main" val="1479284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389200" y="5921788"/>
            <a:ext cx="541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Ajustamento</a:t>
            </a:r>
            <a:r>
              <a:rPr lang="en-US" dirty="0" smtClean="0"/>
              <a:t> de </a:t>
            </a:r>
            <a:r>
              <a:rPr lang="en-US" dirty="0" err="1" smtClean="0"/>
              <a:t>segmentos</a:t>
            </a:r>
            <a:r>
              <a:rPr lang="en-US" dirty="0" smtClean="0"/>
              <a:t> </a:t>
            </a:r>
            <a:r>
              <a:rPr lang="en-US" dirty="0" err="1" smtClean="0"/>
              <a:t>temporais</a:t>
            </a:r>
            <a:r>
              <a:rPr lang="en-US" dirty="0" smtClean="0"/>
              <a:t> </a:t>
            </a:r>
            <a:r>
              <a:rPr lang="en-US" dirty="0" err="1" smtClean="0"/>
              <a:t>usando</a:t>
            </a:r>
            <a:r>
              <a:rPr lang="en-US" dirty="0" smtClean="0"/>
              <a:t> CCD</a:t>
            </a:r>
            <a:endParaRPr lang="pt-P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Reunião DGT/CNCA/ISA 18 junho 2025</a:t>
            </a:r>
            <a:endParaRPr lang="pt-P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6</a:t>
            </a:fld>
            <a:endParaRPr lang="pt-PT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664" y="955778"/>
            <a:ext cx="6300216" cy="48115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1194" y="261187"/>
            <a:ext cx="1061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Processamento</a:t>
            </a:r>
            <a:r>
              <a:rPr lang="en-US" sz="2400" dirty="0" smtClean="0"/>
              <a:t> (1): </a:t>
            </a:r>
            <a:r>
              <a:rPr lang="en-US" sz="2400" dirty="0" err="1"/>
              <a:t>a</a:t>
            </a:r>
            <a:r>
              <a:rPr lang="en-US" sz="2400" dirty="0" err="1" smtClean="0"/>
              <a:t>lgoritmo</a:t>
            </a:r>
            <a:r>
              <a:rPr lang="en-US" sz="2400" dirty="0" smtClean="0"/>
              <a:t> de </a:t>
            </a:r>
            <a:r>
              <a:rPr lang="en-US" sz="2400" dirty="0" err="1" smtClean="0"/>
              <a:t>deteção</a:t>
            </a:r>
            <a:r>
              <a:rPr lang="en-US" sz="2400" dirty="0" smtClean="0"/>
              <a:t> de </a:t>
            </a:r>
            <a:r>
              <a:rPr lang="en-US" sz="2400" dirty="0" err="1" smtClean="0"/>
              <a:t>alterações</a:t>
            </a:r>
            <a:r>
              <a:rPr lang="en-US" sz="2400" dirty="0" smtClean="0"/>
              <a:t> (CCD) </a:t>
            </a:r>
            <a:r>
              <a:rPr lang="en-US" sz="2400" dirty="0" err="1" smtClean="0"/>
              <a:t>aplicado</a:t>
            </a:r>
            <a:r>
              <a:rPr lang="en-US" sz="2400" dirty="0" smtClean="0"/>
              <a:t> a </a:t>
            </a:r>
            <a:r>
              <a:rPr lang="en-US" sz="2400" dirty="0" err="1" smtClean="0"/>
              <a:t>cada</a:t>
            </a:r>
            <a:r>
              <a:rPr lang="en-US" sz="2400" dirty="0" smtClean="0"/>
              <a:t> pixel</a:t>
            </a:r>
            <a:endParaRPr lang="pt-PT" sz="2400" dirty="0"/>
          </a:p>
        </p:txBody>
      </p:sp>
    </p:spTree>
    <p:extLst>
      <p:ext uri="{BB962C8B-B14F-4D97-AF65-F5344CB8AC3E}">
        <p14:creationId xmlns:p14="http://schemas.microsoft.com/office/powerpoint/2010/main" val="724845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14CF1-31BB-CBC9-D7EB-C4D2487AA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95">
            <a:extLst>
              <a:ext uri="{FF2B5EF4-FFF2-40B4-BE49-F238E27FC236}">
                <a16:creationId xmlns:a16="http://schemas.microsoft.com/office/drawing/2014/main" id="{25E6E781-59BF-B5C1-DC4F-94BCF8156260}"/>
              </a:ext>
            </a:extLst>
          </p:cNvPr>
          <p:cNvSpPr/>
          <p:nvPr/>
        </p:nvSpPr>
        <p:spPr>
          <a:xfrm>
            <a:off x="1447800" y="5347286"/>
            <a:ext cx="6668898" cy="13392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73A64DB-A428-6BA6-F29B-D0FC4BF90FD4}"/>
              </a:ext>
            </a:extLst>
          </p:cNvPr>
          <p:cNvSpPr/>
          <p:nvPr/>
        </p:nvSpPr>
        <p:spPr>
          <a:xfrm>
            <a:off x="7875888" y="1275801"/>
            <a:ext cx="4259464" cy="54107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36153558-509C-C64E-EC38-0975401E0DD8}"/>
              </a:ext>
            </a:extLst>
          </p:cNvPr>
          <p:cNvSpPr/>
          <p:nvPr/>
        </p:nvSpPr>
        <p:spPr>
          <a:xfrm>
            <a:off x="8427720" y="1771515"/>
            <a:ext cx="3581400" cy="2365442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ADAE94B-84A2-22C1-94C3-93BCCE597D7B}"/>
              </a:ext>
            </a:extLst>
          </p:cNvPr>
          <p:cNvSpPr/>
          <p:nvPr/>
        </p:nvSpPr>
        <p:spPr>
          <a:xfrm>
            <a:off x="1447800" y="1286932"/>
            <a:ext cx="5844116" cy="397086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722533-E9D3-28B6-4EFB-A7B61E742E95}"/>
              </a:ext>
            </a:extLst>
          </p:cNvPr>
          <p:cNvSpPr txBox="1"/>
          <p:nvPr/>
        </p:nvSpPr>
        <p:spPr>
          <a:xfrm>
            <a:off x="1664459" y="2928366"/>
            <a:ext cx="113120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>
                <a:latin typeface="Cambria"/>
                <a:ea typeface="Cambria"/>
              </a:rPr>
              <a:t>Sentinel-2 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400" dirty="0">
                <a:latin typeface="Cambria"/>
                <a:ea typeface="Cambria"/>
              </a:rPr>
              <a:t>Time Series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38" name="Picture 14" descr="Google Earth Engine">
            <a:extLst>
              <a:ext uri="{FF2B5EF4-FFF2-40B4-BE49-F238E27FC236}">
                <a16:creationId xmlns:a16="http://schemas.microsoft.com/office/drawing/2014/main" id="{6B4C5E5D-E5DF-B500-EF1A-F748ADEFE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77" y="1710266"/>
            <a:ext cx="562094" cy="53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Internet Vector Icons free download in SVG, PNG Format">
            <a:extLst>
              <a:ext uri="{FF2B5EF4-FFF2-40B4-BE49-F238E27FC236}">
                <a16:creationId xmlns:a16="http://schemas.microsoft.com/office/drawing/2014/main" id="{57549A0F-D4C3-249D-B794-3F25994D6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251" y="2400109"/>
            <a:ext cx="535146" cy="535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9A12DF9-649D-E7FB-9DDD-5C511868252D}"/>
              </a:ext>
            </a:extLst>
          </p:cNvPr>
          <p:cNvSpPr/>
          <p:nvPr/>
        </p:nvSpPr>
        <p:spPr>
          <a:xfrm>
            <a:off x="3549957" y="1935962"/>
            <a:ext cx="1583267" cy="615407"/>
          </a:xfrm>
          <a:prstGeom prst="round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Selecionar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pixels (</a:t>
            </a:r>
            <a:r>
              <a:rPr lang="en-US" sz="1400" dirty="0" smtClean="0">
                <a:latin typeface="Cambria" panose="02040503050406030204" pitchFamily="18" charset="0"/>
                <a:ea typeface="Cambria" panose="02040503050406030204" pitchFamily="18" charset="0"/>
              </a:rPr>
              <a:t>mascara DGT)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Can 14">
            <a:extLst>
              <a:ext uri="{FF2B5EF4-FFF2-40B4-BE49-F238E27FC236}">
                <a16:creationId xmlns:a16="http://schemas.microsoft.com/office/drawing/2014/main" id="{95CD0B09-FC78-9E70-6098-62F195AF7210}"/>
              </a:ext>
            </a:extLst>
          </p:cNvPr>
          <p:cNvSpPr/>
          <p:nvPr/>
        </p:nvSpPr>
        <p:spPr>
          <a:xfrm>
            <a:off x="5832574" y="1658408"/>
            <a:ext cx="924349" cy="1170517"/>
          </a:xfrm>
          <a:prstGeom prst="ca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48" name="Picture 24" descr="Hierarchical Data Format - Wikipedia">
            <a:extLst>
              <a:ext uri="{FF2B5EF4-FFF2-40B4-BE49-F238E27FC236}">
                <a16:creationId xmlns:a16="http://schemas.microsoft.com/office/drawing/2014/main" id="{7BCC78AE-76FB-2F5C-9445-9A0CEF573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8041" y="2180194"/>
            <a:ext cx="613414" cy="248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6107215-D870-DE84-C078-AD7CEE3243C9}"/>
              </a:ext>
            </a:extLst>
          </p:cNvPr>
          <p:cNvSpPr txBox="1"/>
          <p:nvPr/>
        </p:nvSpPr>
        <p:spPr>
          <a:xfrm>
            <a:off x="5297579" y="2904435"/>
            <a:ext cx="199433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Ficheiro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HDF5</a:t>
            </a:r>
          </a:p>
          <a:p>
            <a:pPr algn="ctr"/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NumPy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 Array </a:t>
            </a:r>
          </a:p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n_time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n_bands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200" b="1" dirty="0" err="1">
                <a:latin typeface="Cambria" panose="02040503050406030204" pitchFamily="18" charset="0"/>
                <a:ea typeface="Cambria" panose="02040503050406030204" pitchFamily="18" charset="0"/>
              </a:rPr>
              <a:t>n_pixels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9CF24AB-8423-4D45-287A-6C0537F022A1}"/>
              </a:ext>
            </a:extLst>
          </p:cNvPr>
          <p:cNvGrpSpPr/>
          <p:nvPr/>
        </p:nvGrpSpPr>
        <p:grpSpPr>
          <a:xfrm>
            <a:off x="1600953" y="3453277"/>
            <a:ext cx="2389538" cy="380910"/>
            <a:chOff x="1891760" y="3796987"/>
            <a:chExt cx="2389538" cy="380910"/>
          </a:xfrm>
        </p:grpSpPr>
        <p:pic>
          <p:nvPicPr>
            <p:cNvPr id="1052" name="Picture 28" descr="Hard Drive Icon Vector Art, Icons, and Graphics for Free Download">
              <a:extLst>
                <a:ext uri="{FF2B5EF4-FFF2-40B4-BE49-F238E27FC236}">
                  <a16:creationId xmlns:a16="http://schemas.microsoft.com/office/drawing/2014/main" id="{8B0DA5D4-5899-8FC1-51A4-16007218F46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30000" b="68500" l="15000" r="87000">
                          <a14:foregroundMark x1="21000" y1="45500" x2="21000" y2="45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76" t="28930" r="12790" b="31070"/>
            <a:stretch/>
          </p:blipFill>
          <p:spPr bwMode="auto">
            <a:xfrm>
              <a:off x="1962538" y="3855796"/>
              <a:ext cx="455537" cy="2632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11B1E0B-5896-AB92-8EA3-0E125E4FA237}"/>
                </a:ext>
              </a:extLst>
            </p:cNvPr>
            <p:cNvSpPr txBox="1"/>
            <p:nvPr/>
          </p:nvSpPr>
          <p:spPr>
            <a:xfrm>
              <a:off x="2429509" y="3823049"/>
              <a:ext cx="18517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chemeClr val="accent2">
                      <a:lumMod val="7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~0.75 TB/</a:t>
              </a:r>
              <a:r>
                <a:rPr lang="en-US" sz="1400" dirty="0" err="1" smtClean="0">
                  <a:solidFill>
                    <a:schemeClr val="accent2">
                      <a:lumMod val="7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banda</a:t>
              </a:r>
              <a:r>
                <a:rPr lang="en-US" sz="1400" dirty="0" smtClean="0">
                  <a:solidFill>
                    <a:schemeClr val="accent2">
                      <a:lumMod val="7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 (PT)</a:t>
              </a:r>
              <a:endParaRPr lang="en-US" sz="1400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98C049E-E9B6-F80F-152F-D452BB04386F}"/>
                </a:ext>
              </a:extLst>
            </p:cNvPr>
            <p:cNvSpPr/>
            <p:nvPr/>
          </p:nvSpPr>
          <p:spPr>
            <a:xfrm>
              <a:off x="1891760" y="3796987"/>
              <a:ext cx="1562640" cy="380910"/>
            </a:xfrm>
            <a:prstGeom prst="rect">
              <a:avLst/>
            </a:prstGeom>
            <a:noFill/>
            <a:ln w="19050">
              <a:solidFill>
                <a:srgbClr val="00B0F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C2B286B-D416-31EC-B944-02460514821A}"/>
              </a:ext>
            </a:extLst>
          </p:cNvPr>
          <p:cNvGrpSpPr/>
          <p:nvPr/>
        </p:nvGrpSpPr>
        <p:grpSpPr>
          <a:xfrm>
            <a:off x="5497105" y="3796987"/>
            <a:ext cx="1810692" cy="380910"/>
            <a:chOff x="1891760" y="3796987"/>
            <a:chExt cx="1810692" cy="380910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F14A313-D8AF-4D9A-E7B9-C674B42D015C}"/>
                </a:ext>
              </a:extLst>
            </p:cNvPr>
            <p:cNvSpPr txBox="1"/>
            <p:nvPr/>
          </p:nvSpPr>
          <p:spPr>
            <a:xfrm>
              <a:off x="2336372" y="3823049"/>
              <a:ext cx="13660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chemeClr val="accent2">
                      <a:lumMod val="7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~0.3 TB/</a:t>
              </a:r>
              <a:r>
                <a:rPr lang="en-US" sz="1400" dirty="0" err="1" smtClean="0">
                  <a:solidFill>
                    <a:schemeClr val="accent2">
                      <a:lumMod val="7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banda</a:t>
              </a:r>
              <a:endParaRPr lang="en-US" sz="1400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4359C7A-15BE-2A77-2857-0F28FE44437D}"/>
                </a:ext>
              </a:extLst>
            </p:cNvPr>
            <p:cNvSpPr/>
            <p:nvPr/>
          </p:nvSpPr>
          <p:spPr>
            <a:xfrm>
              <a:off x="1891760" y="3796987"/>
              <a:ext cx="1562640" cy="380910"/>
            </a:xfrm>
            <a:prstGeom prst="rect">
              <a:avLst/>
            </a:prstGeom>
            <a:noFill/>
            <a:ln w="19050">
              <a:solidFill>
                <a:srgbClr val="00B0F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B1930C18-93D3-A6DD-688C-FF7576E5D05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8685" y="1890858"/>
            <a:ext cx="1772905" cy="11471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3846480-97B1-7803-9B83-07DDFC2511D7}"/>
              </a:ext>
            </a:extLst>
          </p:cNvPr>
          <p:cNvSpPr txBox="1"/>
          <p:nvPr/>
        </p:nvSpPr>
        <p:spPr>
          <a:xfrm>
            <a:off x="8570585" y="3236869"/>
            <a:ext cx="17729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PyCCD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(pixel level)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668DC9E-D229-624A-4764-3A1C9D3BF13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626"/>
          <a:stretch/>
        </p:blipFill>
        <p:spPr>
          <a:xfrm>
            <a:off x="10458146" y="1886839"/>
            <a:ext cx="1410426" cy="20701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54" name="Picture 30" descr="https://static.wikia.nocookie.net/the-microsoft-windows-xp/images/f/f9/XPIcon.png/revision/latest?cb=20191129153941">
            <a:extLst>
              <a:ext uri="{FF2B5EF4-FFF2-40B4-BE49-F238E27FC236}">
                <a16:creationId xmlns:a16="http://schemas.microsoft.com/office/drawing/2014/main" id="{00A7F06F-9F62-54E9-0216-C1D13AFAD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7485" y="1336028"/>
            <a:ext cx="275467" cy="275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22E83E9-0587-CA98-9357-8A2825ECE34A}"/>
              </a:ext>
            </a:extLst>
          </p:cNvPr>
          <p:cNvSpPr txBox="1"/>
          <p:nvPr/>
        </p:nvSpPr>
        <p:spPr>
          <a:xfrm>
            <a:off x="1801619" y="1317078"/>
            <a:ext cx="1634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Local PC</a:t>
            </a:r>
          </a:p>
        </p:txBody>
      </p:sp>
      <p:pic>
        <p:nvPicPr>
          <p:cNvPr id="1058" name="Picture 34" descr="High-Performance Computing - Tachyum">
            <a:extLst>
              <a:ext uri="{FF2B5EF4-FFF2-40B4-BE49-F238E27FC236}">
                <a16:creationId xmlns:a16="http://schemas.microsoft.com/office/drawing/2014/main" id="{CB15A96B-E6D0-0776-BFBD-AA0F62EB44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8923" y="1326604"/>
            <a:ext cx="433202" cy="433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C1AC15E4-61C6-4286-59F6-A8270413F482}"/>
              </a:ext>
            </a:extLst>
          </p:cNvPr>
          <p:cNvSpPr txBox="1"/>
          <p:nvPr/>
        </p:nvSpPr>
        <p:spPr>
          <a:xfrm>
            <a:off x="8401910" y="1286933"/>
            <a:ext cx="1634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ambria" panose="02040503050406030204" pitchFamily="18" charset="0"/>
                <a:ea typeface="Cambria" panose="02040503050406030204" pitchFamily="18" charset="0"/>
              </a:rPr>
              <a:t>HPC (480 tasks)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1470126-25D6-C395-C887-ED328B05DEA4}"/>
              </a:ext>
            </a:extLst>
          </p:cNvPr>
          <p:cNvSpPr txBox="1"/>
          <p:nvPr/>
        </p:nvSpPr>
        <p:spPr>
          <a:xfrm>
            <a:off x="162517" y="3037013"/>
            <a:ext cx="1073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GEE, WEB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0F57F4D-BCF6-67F3-FF00-B1DF2495F566}"/>
              </a:ext>
            </a:extLst>
          </p:cNvPr>
          <p:cNvCxnSpPr/>
          <p:nvPr/>
        </p:nvCxnSpPr>
        <p:spPr>
          <a:xfrm>
            <a:off x="2997199" y="2243665"/>
            <a:ext cx="51889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BE2C423-CF09-B866-25FD-5864DD47B89B}"/>
              </a:ext>
            </a:extLst>
          </p:cNvPr>
          <p:cNvCxnSpPr/>
          <p:nvPr/>
        </p:nvCxnSpPr>
        <p:spPr>
          <a:xfrm>
            <a:off x="5237660" y="2243665"/>
            <a:ext cx="51889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Picture 28" descr="Hard Drive Icon Vector Art, Icons, and Graphics for Free Download">
            <a:extLst>
              <a:ext uri="{FF2B5EF4-FFF2-40B4-BE49-F238E27FC236}">
                <a16:creationId xmlns:a16="http://schemas.microsoft.com/office/drawing/2014/main" id="{42F9F1DF-FF10-2A32-2F06-700DCD8833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0000" b="68500" l="15000" r="87000">
                        <a14:foregroundMark x1="21000" y1="45500" x2="21000" y2="45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876" t="28930" r="12790" b="31070"/>
          <a:stretch/>
        </p:blipFill>
        <p:spPr bwMode="auto">
          <a:xfrm>
            <a:off x="5531429" y="3852052"/>
            <a:ext cx="455537" cy="263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A41A6E5-04CC-000A-9C5B-77F2F26DF1C5}"/>
              </a:ext>
            </a:extLst>
          </p:cNvPr>
          <p:cNvCxnSpPr>
            <a:endCxn id="36" idx="1"/>
          </p:cNvCxnSpPr>
          <p:nvPr/>
        </p:nvCxnSpPr>
        <p:spPr>
          <a:xfrm>
            <a:off x="6922974" y="2275195"/>
            <a:ext cx="1504746" cy="6790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4964AD7-2F67-CE7F-3BED-A093830653A6}"/>
              </a:ext>
            </a:extLst>
          </p:cNvPr>
          <p:cNvCxnSpPr/>
          <p:nvPr/>
        </p:nvCxnSpPr>
        <p:spPr>
          <a:xfrm>
            <a:off x="7085562" y="2165913"/>
            <a:ext cx="1064058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D495F2E-7F8C-39D1-E1D3-3992EFC00C20}"/>
              </a:ext>
            </a:extLst>
          </p:cNvPr>
          <p:cNvSpPr txBox="1"/>
          <p:nvPr/>
        </p:nvSpPr>
        <p:spPr>
          <a:xfrm>
            <a:off x="7228537" y="1904303"/>
            <a:ext cx="7429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transfer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B6028B6-0C47-6071-C247-583A3FCA0D2B}"/>
              </a:ext>
            </a:extLst>
          </p:cNvPr>
          <p:cNvCxnSpPr/>
          <p:nvPr/>
        </p:nvCxnSpPr>
        <p:spPr>
          <a:xfrm>
            <a:off x="962025" y="2270393"/>
            <a:ext cx="850311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19276584-7BD8-0B46-94CD-5186867ADD05}"/>
              </a:ext>
            </a:extLst>
          </p:cNvPr>
          <p:cNvSpPr txBox="1"/>
          <p:nvPr/>
        </p:nvSpPr>
        <p:spPr>
          <a:xfrm>
            <a:off x="1015704" y="2008783"/>
            <a:ext cx="7429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transfer</a:t>
            </a:r>
          </a:p>
        </p:txBody>
      </p:sp>
      <p:pic>
        <p:nvPicPr>
          <p:cNvPr id="1062" name="Picture 38" descr="Pandas icon - Free Download PNG &amp; SVG | Streamline">
            <a:extLst>
              <a:ext uri="{FF2B5EF4-FFF2-40B4-BE49-F238E27FC236}">
                <a16:creationId xmlns:a16="http://schemas.microsoft.com/office/drawing/2014/main" id="{A7DD7581-0246-2560-0AE7-1EFB479009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50" b="32503"/>
          <a:stretch/>
        </p:blipFill>
        <p:spPr bwMode="auto">
          <a:xfrm>
            <a:off x="10120415" y="5550579"/>
            <a:ext cx="1545468" cy="55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A7A645BF-F634-97B9-9368-DE05BF57B88C}"/>
              </a:ext>
            </a:extLst>
          </p:cNvPr>
          <p:cNvGrpSpPr/>
          <p:nvPr/>
        </p:nvGrpSpPr>
        <p:grpSpPr>
          <a:xfrm>
            <a:off x="8979123" y="4786970"/>
            <a:ext cx="1057275" cy="1478279"/>
            <a:chOff x="6448424" y="5006327"/>
            <a:chExt cx="1057275" cy="1478280"/>
          </a:xfrm>
        </p:grpSpPr>
        <p:pic>
          <p:nvPicPr>
            <p:cNvPr id="1068" name="Picture 44" descr="File:Apache Parquet logo.svg">
              <a:extLst>
                <a:ext uri="{FF2B5EF4-FFF2-40B4-BE49-F238E27FC236}">
                  <a16:creationId xmlns:a16="http://schemas.microsoft.com/office/drawing/2014/main" id="{F92FBF6D-E417-3710-2C2A-48BA0D51AB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1455" y="5761015"/>
              <a:ext cx="768555" cy="1575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70" name="Picture 46" descr="Blue Files Icon for Easy File Management">
              <a:extLst>
                <a:ext uri="{FF2B5EF4-FFF2-40B4-BE49-F238E27FC236}">
                  <a16:creationId xmlns:a16="http://schemas.microsoft.com/office/drawing/2014/main" id="{D6291484-89AC-818D-DDFB-5FEBAA3C14E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4" r="14825"/>
            <a:stretch/>
          </p:blipFill>
          <p:spPr bwMode="auto">
            <a:xfrm>
              <a:off x="6448424" y="5006327"/>
              <a:ext cx="1057275" cy="14782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3574E8C1-9458-23EB-0F9C-2289589B1885}"/>
              </a:ext>
            </a:extLst>
          </p:cNvPr>
          <p:cNvSpPr txBox="1"/>
          <p:nvPr/>
        </p:nvSpPr>
        <p:spPr>
          <a:xfrm>
            <a:off x="10120415" y="4904248"/>
            <a:ext cx="155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Result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DataFrame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F6ABAE5E-713D-0E5C-02BD-3B3873F6D683}"/>
              </a:ext>
            </a:extLst>
          </p:cNvPr>
          <p:cNvCxnSpPr>
            <a:stCxn id="36" idx="2"/>
          </p:cNvCxnSpPr>
          <p:nvPr/>
        </p:nvCxnSpPr>
        <p:spPr>
          <a:xfrm>
            <a:off x="10218420" y="4136957"/>
            <a:ext cx="0" cy="7262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24BB29C-CE37-4181-F613-D6760D31DB8D}"/>
              </a:ext>
            </a:extLst>
          </p:cNvPr>
          <p:cNvGrpSpPr/>
          <p:nvPr/>
        </p:nvGrpSpPr>
        <p:grpSpPr>
          <a:xfrm>
            <a:off x="9418071" y="6196910"/>
            <a:ext cx="1600698" cy="380910"/>
            <a:chOff x="5542444" y="4876889"/>
            <a:chExt cx="1600698" cy="380910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AC4DD2FE-3692-059B-DFC0-1D1F5A5A558D}"/>
                </a:ext>
              </a:extLst>
            </p:cNvPr>
            <p:cNvGrpSpPr/>
            <p:nvPr/>
          </p:nvGrpSpPr>
          <p:grpSpPr>
            <a:xfrm>
              <a:off x="5542444" y="4876889"/>
              <a:ext cx="1600698" cy="380910"/>
              <a:chOff x="1891760" y="3796987"/>
              <a:chExt cx="1600698" cy="380910"/>
            </a:xfrm>
          </p:grpSpPr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31BB7319-D7C5-E21D-69D7-635E39B9B951}"/>
                  </a:ext>
                </a:extLst>
              </p:cNvPr>
              <p:cNvSpPr txBox="1"/>
              <p:nvPr/>
            </p:nvSpPr>
            <p:spPr>
              <a:xfrm>
                <a:off x="2336372" y="3823049"/>
                <a:ext cx="11560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>
                    <a:solidFill>
                      <a:schemeClr val="accent2">
                        <a:lumMod val="7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~43 GB </a:t>
                </a:r>
                <a:r>
                  <a:rPr lang="en-US" sz="1400" dirty="0">
                    <a:solidFill>
                      <a:schemeClr val="accent2">
                        <a:lumMod val="7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(PT)</a:t>
                </a:r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E8C910DD-3822-5BC2-D7D0-A477E2122F84}"/>
                  </a:ext>
                </a:extLst>
              </p:cNvPr>
              <p:cNvSpPr/>
              <p:nvPr/>
            </p:nvSpPr>
            <p:spPr>
              <a:xfrm>
                <a:off x="1891760" y="3796987"/>
                <a:ext cx="1562640" cy="380910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p:grpSp>
        <p:pic>
          <p:nvPicPr>
            <p:cNvPr id="84" name="Picture 28" descr="Hard Drive Icon Vector Art, Icons, and Graphics for Free Download">
              <a:extLst>
                <a:ext uri="{FF2B5EF4-FFF2-40B4-BE49-F238E27FC236}">
                  <a16:creationId xmlns:a16="http://schemas.microsoft.com/office/drawing/2014/main" id="{86591CC2-63F2-BE9C-137E-D004BAC534A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30000" b="68500" l="15000" r="87000">
                          <a14:foregroundMark x1="21000" y1="45500" x2="21000" y2="45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76" t="28930" r="12790" b="31070"/>
            <a:stretch/>
          </p:blipFill>
          <p:spPr bwMode="auto">
            <a:xfrm>
              <a:off x="5549165" y="4935699"/>
              <a:ext cx="455537" cy="2632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F590F45C-EB7D-1D9B-8FD9-643038690E05}"/>
              </a:ext>
            </a:extLst>
          </p:cNvPr>
          <p:cNvCxnSpPr/>
          <p:nvPr/>
        </p:nvCxnSpPr>
        <p:spPr>
          <a:xfrm rot="10800000">
            <a:off x="4857751" y="4705351"/>
            <a:ext cx="4121373" cy="836307"/>
          </a:xfrm>
          <a:prstGeom prst="bentConnector3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D9E4A491-01BD-F49D-30B5-36400C65A318}"/>
              </a:ext>
            </a:extLst>
          </p:cNvPr>
          <p:cNvSpPr txBox="1"/>
          <p:nvPr/>
        </p:nvSpPr>
        <p:spPr>
          <a:xfrm>
            <a:off x="7274441" y="5320408"/>
            <a:ext cx="7429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transfer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3F69C6D-66E9-8BD6-F8A7-36215EB900D7}"/>
              </a:ext>
            </a:extLst>
          </p:cNvPr>
          <p:cNvGrpSpPr/>
          <p:nvPr/>
        </p:nvGrpSpPr>
        <p:grpSpPr>
          <a:xfrm>
            <a:off x="4091279" y="4179077"/>
            <a:ext cx="675461" cy="944428"/>
            <a:chOff x="6448424" y="5006327"/>
            <a:chExt cx="1057275" cy="1478280"/>
          </a:xfrm>
        </p:grpSpPr>
        <p:pic>
          <p:nvPicPr>
            <p:cNvPr id="90" name="Picture 44" descr="File:Apache Parquet logo.svg">
              <a:extLst>
                <a:ext uri="{FF2B5EF4-FFF2-40B4-BE49-F238E27FC236}">
                  <a16:creationId xmlns:a16="http://schemas.microsoft.com/office/drawing/2014/main" id="{15C59999-11B8-4E9C-2687-40EF35074B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1455" y="5761015"/>
              <a:ext cx="768555" cy="1575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1" name="Picture 46" descr="Blue Files Icon for Easy File Management">
              <a:extLst>
                <a:ext uri="{FF2B5EF4-FFF2-40B4-BE49-F238E27FC236}">
                  <a16:creationId xmlns:a16="http://schemas.microsoft.com/office/drawing/2014/main" id="{6751276E-2A9A-186C-841A-2C12AF8CF63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4" r="14825"/>
            <a:stretch/>
          </p:blipFill>
          <p:spPr bwMode="auto">
            <a:xfrm>
              <a:off x="6448424" y="5006327"/>
              <a:ext cx="1057275" cy="14782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0FBD4077-38AD-2892-63A7-8CDD2DE684AB}"/>
              </a:ext>
            </a:extLst>
          </p:cNvPr>
          <p:cNvSpPr/>
          <p:nvPr/>
        </p:nvSpPr>
        <p:spPr>
          <a:xfrm>
            <a:off x="1852840" y="4287390"/>
            <a:ext cx="1583267" cy="307703"/>
          </a:xfrm>
          <a:prstGeom prst="round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Visualização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EF59002-4B38-6F2E-FDBA-D5FAA641EC43}"/>
              </a:ext>
            </a:extLst>
          </p:cNvPr>
          <p:cNvCxnSpPr/>
          <p:nvPr/>
        </p:nvCxnSpPr>
        <p:spPr>
          <a:xfrm flipH="1" flipV="1">
            <a:off x="3597112" y="4651101"/>
            <a:ext cx="446542" cy="1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44F595CD-42E8-031A-DDB5-D893F2E8DA43}"/>
              </a:ext>
            </a:extLst>
          </p:cNvPr>
          <p:cNvSpPr/>
          <p:nvPr/>
        </p:nvSpPr>
        <p:spPr>
          <a:xfrm>
            <a:off x="4173283" y="5497902"/>
            <a:ext cx="1583267" cy="481552"/>
          </a:xfrm>
          <a:prstGeom prst="round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Criar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Compósitos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6A42833D-EBD8-8B7D-9AC9-3A04CDCD90C4}"/>
              </a:ext>
            </a:extLst>
          </p:cNvPr>
          <p:cNvSpPr/>
          <p:nvPr/>
        </p:nvSpPr>
        <p:spPr>
          <a:xfrm>
            <a:off x="1852840" y="4687730"/>
            <a:ext cx="1583267" cy="307703"/>
          </a:xfrm>
          <a:prstGeom prst="round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Validação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95F87781-16D7-EC66-4940-E8F982CF2523}"/>
              </a:ext>
            </a:extLst>
          </p:cNvPr>
          <p:cNvSpPr/>
          <p:nvPr/>
        </p:nvSpPr>
        <p:spPr>
          <a:xfrm>
            <a:off x="4174463" y="6091103"/>
            <a:ext cx="1583267" cy="481552"/>
          </a:xfrm>
          <a:prstGeom prst="round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Classificação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Deep Learning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86A28124-B7E1-E7D2-766B-E2E8325CF9E4}"/>
              </a:ext>
            </a:extLst>
          </p:cNvPr>
          <p:cNvCxnSpPr/>
          <p:nvPr/>
        </p:nvCxnSpPr>
        <p:spPr>
          <a:xfrm flipH="1">
            <a:off x="5860951" y="5779585"/>
            <a:ext cx="3108113" cy="2460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3" name="Picture 56" descr="Check mark Computer Icons, Green Tick Mark, angle, text png thumbnail">
            <a:extLst>
              <a:ext uri="{FF2B5EF4-FFF2-40B4-BE49-F238E27FC236}">
                <a16:creationId xmlns:a16="http://schemas.microsoft.com/office/drawing/2014/main" id="{562AC2F3-451D-D331-DD27-3EF8D9A24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0" b="98276" l="575" r="99138">
                        <a14:foregroundMark x1="73276" y1="31609" x2="37931" y2="64655"/>
                        <a14:foregroundMark x1="38218" y1="75862" x2="15517" y2="52874"/>
                        <a14:backgroundMark x1="21839" y1="6034" x2="4885" y2="22701"/>
                        <a14:backgroundMark x1="81897" y1="5460" x2="95402" y2="20690"/>
                        <a14:backgroundMark x1="96264" y1="76724" x2="82759" y2="93966"/>
                        <a14:backgroundMark x1="17816" y1="95115" x2="2874" y2="7902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6727" y="1685592"/>
            <a:ext cx="171845" cy="17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Picture 56" descr="Check mark Computer Icons, Green Tick Mark, angle, text png thumbnail">
            <a:extLst>
              <a:ext uri="{FF2B5EF4-FFF2-40B4-BE49-F238E27FC236}">
                <a16:creationId xmlns:a16="http://schemas.microsoft.com/office/drawing/2014/main" id="{4B438229-2E9C-553E-A89E-1FEE28D2F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0" b="98276" l="575" r="99138">
                        <a14:foregroundMark x1="73276" y1="31609" x2="37931" y2="64655"/>
                        <a14:foregroundMark x1="38218" y1="75862" x2="15517" y2="52874"/>
                        <a14:backgroundMark x1="21839" y1="6034" x2="4885" y2="22701"/>
                        <a14:backgroundMark x1="81897" y1="5460" x2="95402" y2="20690"/>
                        <a14:backgroundMark x1="96264" y1="76724" x2="82759" y2="93966"/>
                        <a14:backgroundMark x1="17816" y1="95115" x2="2874" y2="7902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10804" y="4969646"/>
            <a:ext cx="171845" cy="17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Picture 56" descr="Check mark Computer Icons, Green Tick Mark, angle, text png thumbnail">
            <a:extLst>
              <a:ext uri="{FF2B5EF4-FFF2-40B4-BE49-F238E27FC236}">
                <a16:creationId xmlns:a16="http://schemas.microsoft.com/office/drawing/2014/main" id="{4EF716A8-FD26-DF3A-0196-22D9FF377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0" b="98276" l="575" r="99138">
                        <a14:foregroundMark x1="73276" y1="31609" x2="37931" y2="64655"/>
                        <a14:foregroundMark x1="38218" y1="75862" x2="15517" y2="52874"/>
                        <a14:backgroundMark x1="21839" y1="6034" x2="4885" y2="22701"/>
                        <a14:backgroundMark x1="81897" y1="5460" x2="95402" y2="20690"/>
                        <a14:backgroundMark x1="96264" y1="76724" x2="82759" y2="93966"/>
                        <a14:backgroundMark x1="17816" y1="95115" x2="2874" y2="7902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8076" y="1658943"/>
            <a:ext cx="171845" cy="17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Picture 56" descr="Check mark Computer Icons, Green Tick Mark, angle, text png thumbnail">
            <a:extLst>
              <a:ext uri="{FF2B5EF4-FFF2-40B4-BE49-F238E27FC236}">
                <a16:creationId xmlns:a16="http://schemas.microsoft.com/office/drawing/2014/main" id="{305310FF-E787-DA56-9714-B82CBF0B1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0" b="98276" l="575" r="99138">
                        <a14:foregroundMark x1="73276" y1="31609" x2="37931" y2="64655"/>
                        <a14:foregroundMark x1="38218" y1="75862" x2="15517" y2="52874"/>
                        <a14:backgroundMark x1="21839" y1="6034" x2="4885" y2="22701"/>
                        <a14:backgroundMark x1="81897" y1="5460" x2="95402" y2="20690"/>
                        <a14:backgroundMark x1="96264" y1="76724" x2="82759" y2="93966"/>
                        <a14:backgroundMark x1="17816" y1="95115" x2="2874" y2="7902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8221" y="1849009"/>
            <a:ext cx="171845" cy="17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Picture 56" descr="Check mark Computer Icons, Green Tick Mark, angle, text png thumbnail">
            <a:extLst>
              <a:ext uri="{FF2B5EF4-FFF2-40B4-BE49-F238E27FC236}">
                <a16:creationId xmlns:a16="http://schemas.microsoft.com/office/drawing/2014/main" id="{1D73F641-963A-42AA-BFB4-751B39964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0" b="98276" l="575" r="99138">
                        <a14:foregroundMark x1="73276" y1="31609" x2="37931" y2="64655"/>
                        <a14:foregroundMark x1="38218" y1="75862" x2="15517" y2="52874"/>
                        <a14:backgroundMark x1="21839" y1="6034" x2="4885" y2="22701"/>
                        <a14:backgroundMark x1="81897" y1="5460" x2="95402" y2="20690"/>
                        <a14:backgroundMark x1="96264" y1="76724" x2="82759" y2="93966"/>
                        <a14:backgroundMark x1="17816" y1="95115" x2="2874" y2="7902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5462" y="4194753"/>
            <a:ext cx="171845" cy="17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Picture 56" descr="Check mark Computer Icons, Green Tick Mark, angle, text png thumbnail">
            <a:extLst>
              <a:ext uri="{FF2B5EF4-FFF2-40B4-BE49-F238E27FC236}">
                <a16:creationId xmlns:a16="http://schemas.microsoft.com/office/drawing/2014/main" id="{366E4F2D-9D7D-8A89-5561-D07E91CE61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0" b="98276" l="575" r="99138">
                        <a14:foregroundMark x1="73276" y1="31609" x2="37931" y2="64655"/>
                        <a14:foregroundMark x1="38218" y1="75862" x2="15517" y2="52874"/>
                        <a14:backgroundMark x1="21839" y1="6034" x2="4885" y2="22701"/>
                        <a14:backgroundMark x1="81897" y1="5460" x2="95402" y2="20690"/>
                        <a14:backgroundMark x1="96264" y1="76724" x2="82759" y2="93966"/>
                        <a14:backgroundMark x1="17816" y1="95115" x2="2874" y2="7902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4256" y="4621902"/>
            <a:ext cx="171845" cy="17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1" name="Group 100">
            <a:extLst>
              <a:ext uri="{FF2B5EF4-FFF2-40B4-BE49-F238E27FC236}">
                <a16:creationId xmlns:a16="http://schemas.microsoft.com/office/drawing/2014/main" id="{B56E8F8C-F26D-11EE-DE3C-93C69244E6CA}"/>
              </a:ext>
            </a:extLst>
          </p:cNvPr>
          <p:cNvGrpSpPr/>
          <p:nvPr/>
        </p:nvGrpSpPr>
        <p:grpSpPr>
          <a:xfrm>
            <a:off x="5375880" y="5290610"/>
            <a:ext cx="720120" cy="365661"/>
            <a:chOff x="2618863" y="425877"/>
            <a:chExt cx="1051677" cy="534018"/>
          </a:xfrm>
        </p:grpSpPr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97E7D513-C64F-5883-A95A-7A7AE0CF1EB0}"/>
                </a:ext>
              </a:extLst>
            </p:cNvPr>
            <p:cNvSpPr/>
            <p:nvPr/>
          </p:nvSpPr>
          <p:spPr>
            <a:xfrm>
              <a:off x="3032269" y="494116"/>
              <a:ext cx="284812" cy="30360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94" name="Picture 70" descr="Clock Pending Time Icon - Icono Reloj Png Blanco,Clock Icon Svg - free  transparent png images - pngaaa.com">
              <a:extLst>
                <a:ext uri="{FF2B5EF4-FFF2-40B4-BE49-F238E27FC236}">
                  <a16:creationId xmlns:a16="http://schemas.microsoft.com/office/drawing/2014/main" id="{9EDBFF29-2DF0-0221-BF30-FCBB914B22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BEBA8EAE-BF5A-486C-A8C5-ECC9F3942E4B}">
                  <a14:imgProps xmlns:a14="http://schemas.microsoft.com/office/drawing/2010/main">
                    <a14:imgLayer r:embed="rId20">
                      <a14:imgEffect>
                        <a14:backgroundRemoval t="6565" b="93217" l="27111" r="72222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8863" y="425877"/>
              <a:ext cx="1051677" cy="5340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4CF7679B-D7B9-5855-0138-260ED2FD1E49}"/>
              </a:ext>
            </a:extLst>
          </p:cNvPr>
          <p:cNvGrpSpPr/>
          <p:nvPr/>
        </p:nvGrpSpPr>
        <p:grpSpPr>
          <a:xfrm>
            <a:off x="5398020" y="5967310"/>
            <a:ext cx="720120" cy="365661"/>
            <a:chOff x="2618863" y="425877"/>
            <a:chExt cx="1051677" cy="534018"/>
          </a:xfrm>
        </p:grpSpPr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DEF83453-7D6E-5A7E-8FE6-AE78E90667CF}"/>
                </a:ext>
              </a:extLst>
            </p:cNvPr>
            <p:cNvSpPr/>
            <p:nvPr/>
          </p:nvSpPr>
          <p:spPr>
            <a:xfrm>
              <a:off x="3032269" y="494116"/>
              <a:ext cx="284812" cy="30360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3" name="Picture 70" descr="Clock Pending Time Icon - Icono Reloj Png Blanco,Clock Icon Svg - free  transparent png images - pngaaa.com">
              <a:extLst>
                <a:ext uri="{FF2B5EF4-FFF2-40B4-BE49-F238E27FC236}">
                  <a16:creationId xmlns:a16="http://schemas.microsoft.com/office/drawing/2014/main" id="{6B2CC689-C86D-4DA9-1396-D1D2E79081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BEBA8EAE-BF5A-486C-A8C5-ECC9F3942E4B}">
                  <a14:imgProps xmlns:a14="http://schemas.microsoft.com/office/drawing/2010/main">
                    <a14:imgLayer r:embed="rId20">
                      <a14:imgEffect>
                        <a14:backgroundRemoval t="6565" b="93217" l="27111" r="72222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8863" y="425877"/>
              <a:ext cx="1051677" cy="5340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Picture 3" descr="A red and white file with a picture&#10;&#10;AI-generated content may be incorrect.">
            <a:extLst>
              <a:ext uri="{FF2B5EF4-FFF2-40B4-BE49-F238E27FC236}">
                <a16:creationId xmlns:a16="http://schemas.microsoft.com/office/drawing/2014/main" id="{F0A9E462-41E4-EE3E-8A3D-F2FBF8B9277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ackgroundRemoval t="0" b="100000" l="0" r="100000">
                        <a14:foregroundMark x1="60057" y1="68142" x2="60057" y2="68142"/>
                        <a14:foregroundMark x1="28895" y1="54646" x2="28895" y2="54646"/>
                        <a14:foregroundMark x1="61473" y1="15929" x2="61473" y2="15929"/>
                        <a14:foregroundMark x1="62890" y1="39381" x2="62890" y2="39381"/>
                        <a14:foregroundMark x1="8782" y1="63938" x2="8782" y2="63938"/>
                        <a14:foregroundMark x1="58640" y1="92920" x2="58640" y2="92920"/>
                        <a14:foregroundMark x1="91501" y1="36726" x2="5666" y2="34513"/>
                        <a14:foregroundMark x1="89518" y1="38274" x2="91501" y2="90044"/>
                        <a14:foregroundMark x1="88952" y1="91150" x2="10482" y2="91593"/>
                        <a14:foregroundMark x1="10482" y1="90708" x2="4816" y2="34513"/>
                        <a14:foregroundMark x1="21813" y1="50221" x2="21246" y2="79867"/>
                        <a14:foregroundMark x1="21813" y1="81637" x2="79320" y2="81195"/>
                        <a14:foregroundMark x1="77904" y1="79425" x2="77054" y2="49115"/>
                        <a14:foregroundMark x1="75921" y1="50000" x2="21813" y2="49115"/>
                        <a14:foregroundMark x1="37394" y1="9956" x2="37394" y2="21681"/>
                        <a14:foregroundMark x1="37394" y1="22124" x2="94051" y2="21018"/>
                        <a14:foregroundMark x1="94334" y1="20354" x2="94051" y2="8628"/>
                        <a14:foregroundMark x1="94334" y1="8850" x2="36261" y2="9956"/>
                        <a14:foregroundMark x1="38244" y1="19248" x2="90935" y2="15929"/>
                        <a14:foregroundMark x1="77904" y1="15044" x2="38244" y2="13274"/>
                        <a14:foregroundMark x1="83569" y1="19248" x2="82720" y2="11283"/>
                        <a14:foregroundMark x1="50425" y1="53982" x2="40227" y2="62389"/>
                        <a14:backgroundMark x1="10198" y1="7522" x2="10198" y2="75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47425" y="1643934"/>
            <a:ext cx="491915" cy="6298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11CDEC-8EFF-AFB4-FBF8-CD963229846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ackgroundRemoval t="0" b="100000" l="0" r="100000">
                        <a14:foregroundMark x1="60057" y1="68142" x2="60057" y2="68142"/>
                        <a14:foregroundMark x1="28895" y1="54646" x2="28895" y2="54646"/>
                        <a14:foregroundMark x1="61473" y1="15929" x2="61473" y2="15929"/>
                        <a14:foregroundMark x1="62890" y1="39381" x2="62890" y2="39381"/>
                        <a14:foregroundMark x1="8782" y1="63938" x2="8782" y2="63938"/>
                        <a14:foregroundMark x1="58640" y1="92920" x2="58640" y2="92920"/>
                        <a14:foregroundMark x1="91501" y1="36726" x2="5666" y2="34513"/>
                        <a14:foregroundMark x1="89518" y1="38274" x2="91501" y2="90044"/>
                        <a14:foregroundMark x1="88952" y1="91150" x2="10482" y2="91593"/>
                        <a14:foregroundMark x1="10482" y1="90708" x2="4816" y2="34513"/>
                        <a14:foregroundMark x1="21813" y1="50221" x2="21246" y2="79867"/>
                        <a14:foregroundMark x1="21813" y1="81637" x2="79320" y2="81195"/>
                        <a14:foregroundMark x1="77904" y1="79425" x2="77054" y2="49115"/>
                        <a14:foregroundMark x1="75921" y1="50000" x2="21813" y2="49115"/>
                        <a14:foregroundMark x1="37394" y1="9956" x2="37394" y2="21681"/>
                        <a14:foregroundMark x1="37394" y1="22124" x2="94051" y2="21018"/>
                        <a14:foregroundMark x1="94334" y1="20354" x2="94051" y2="8628"/>
                        <a14:foregroundMark x1="94334" y1="8850" x2="36261" y2="9956"/>
                        <a14:foregroundMark x1="38244" y1="19248" x2="90935" y2="15929"/>
                        <a14:foregroundMark x1="77904" y1="15044" x2="38244" y2="13274"/>
                        <a14:foregroundMark x1="83569" y1="19248" x2="82720" y2="11283"/>
                        <a14:foregroundMark x1="50425" y1="53982" x2="40227" y2="62389"/>
                        <a14:backgroundMark x1="10198" y1="7522" x2="10198" y2="75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36289" y="1864513"/>
            <a:ext cx="491915" cy="629875"/>
          </a:xfrm>
          <a:prstGeom prst="rect">
            <a:avLst/>
          </a:prstGeom>
        </p:spPr>
      </p:pic>
      <p:pic>
        <p:nvPicPr>
          <p:cNvPr id="8" name="Picture 7" descr="A red and white file with a picture&#10;&#10;AI-generated content may be incorrect.">
            <a:extLst>
              <a:ext uri="{FF2B5EF4-FFF2-40B4-BE49-F238E27FC236}">
                <a16:creationId xmlns:a16="http://schemas.microsoft.com/office/drawing/2014/main" id="{F9B86956-7011-A773-875C-1EE032DA67D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ackgroundRemoval t="0" b="100000" l="0" r="100000">
                        <a14:foregroundMark x1="60057" y1="68142" x2="60057" y2="68142"/>
                        <a14:foregroundMark x1="28895" y1="54646" x2="28895" y2="54646"/>
                        <a14:foregroundMark x1="61473" y1="15929" x2="61473" y2="15929"/>
                        <a14:foregroundMark x1="62890" y1="39381" x2="62890" y2="39381"/>
                        <a14:foregroundMark x1="8782" y1="63938" x2="8782" y2="63938"/>
                        <a14:foregroundMark x1="58640" y1="92920" x2="58640" y2="92920"/>
                        <a14:foregroundMark x1="91501" y1="36726" x2="5666" y2="34513"/>
                        <a14:foregroundMark x1="89518" y1="38274" x2="91501" y2="90044"/>
                        <a14:foregroundMark x1="88952" y1="91150" x2="10482" y2="91593"/>
                        <a14:foregroundMark x1="10482" y1="90708" x2="4816" y2="34513"/>
                        <a14:foregroundMark x1="21813" y1="50221" x2="21246" y2="79867"/>
                        <a14:foregroundMark x1="21813" y1="81637" x2="79320" y2="81195"/>
                        <a14:foregroundMark x1="77904" y1="79425" x2="77054" y2="49115"/>
                        <a14:foregroundMark x1="75921" y1="50000" x2="21813" y2="49115"/>
                        <a14:foregroundMark x1="37394" y1="9956" x2="37394" y2="21681"/>
                        <a14:foregroundMark x1="37394" y1="22124" x2="94051" y2="21018"/>
                        <a14:foregroundMark x1="94334" y1="20354" x2="94051" y2="8628"/>
                        <a14:foregroundMark x1="94334" y1="8850" x2="36261" y2="9956"/>
                        <a14:foregroundMark x1="38244" y1="19248" x2="90935" y2="15929"/>
                        <a14:foregroundMark x1="77904" y1="15044" x2="38244" y2="13274"/>
                        <a14:foregroundMark x1="83569" y1="19248" x2="82720" y2="11283"/>
                        <a14:foregroundMark x1="50425" y1="53982" x2="40227" y2="62389"/>
                        <a14:backgroundMark x1="10198" y1="7522" x2="10198" y2="75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25155" y="2085092"/>
            <a:ext cx="491915" cy="629875"/>
          </a:xfrm>
          <a:prstGeom prst="rect">
            <a:avLst/>
          </a:prstGeom>
        </p:spPr>
      </p:pic>
      <p:pic>
        <p:nvPicPr>
          <p:cNvPr id="11" name="Picture 10" descr="A red and white file with a picture&#10;&#10;AI-generated content may be incorrect.">
            <a:extLst>
              <a:ext uri="{FF2B5EF4-FFF2-40B4-BE49-F238E27FC236}">
                <a16:creationId xmlns:a16="http://schemas.microsoft.com/office/drawing/2014/main" id="{1BCF6170-D1EB-2112-1C7A-E5FA1A09E1A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ackgroundRemoval t="0" b="100000" l="0" r="100000">
                        <a14:foregroundMark x1="60057" y1="68142" x2="60057" y2="68142"/>
                        <a14:foregroundMark x1="28895" y1="54646" x2="28895" y2="54646"/>
                        <a14:foregroundMark x1="61473" y1="15929" x2="61473" y2="15929"/>
                        <a14:foregroundMark x1="62890" y1="39381" x2="62890" y2="39381"/>
                        <a14:foregroundMark x1="8782" y1="63938" x2="8782" y2="63938"/>
                        <a14:foregroundMark x1="58640" y1="92920" x2="58640" y2="92920"/>
                        <a14:foregroundMark x1="91501" y1="36726" x2="5666" y2="34513"/>
                        <a14:foregroundMark x1="89518" y1="38274" x2="91501" y2="90044"/>
                        <a14:foregroundMark x1="88952" y1="91150" x2="10482" y2="91593"/>
                        <a14:foregroundMark x1="10482" y1="90708" x2="4816" y2="34513"/>
                        <a14:foregroundMark x1="21813" y1="50221" x2="21246" y2="79867"/>
                        <a14:foregroundMark x1="21813" y1="81637" x2="79320" y2="81195"/>
                        <a14:foregroundMark x1="77904" y1="79425" x2="77054" y2="49115"/>
                        <a14:foregroundMark x1="75921" y1="50000" x2="21813" y2="49115"/>
                        <a14:foregroundMark x1="37394" y1="9956" x2="37394" y2="21681"/>
                        <a14:foregroundMark x1="37394" y1="22124" x2="94051" y2="21018"/>
                        <a14:foregroundMark x1="94334" y1="20354" x2="94051" y2="8628"/>
                        <a14:foregroundMark x1="94334" y1="8850" x2="36261" y2="9956"/>
                        <a14:foregroundMark x1="38244" y1="19248" x2="90935" y2="15929"/>
                        <a14:foregroundMark x1="77904" y1="15044" x2="38244" y2="13274"/>
                        <a14:foregroundMark x1="83569" y1="19248" x2="82720" y2="11283"/>
                        <a14:foregroundMark x1="50425" y1="53982" x2="40227" y2="62389"/>
                        <a14:backgroundMark x1="10198" y1="7522" x2="10198" y2="75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16870" y="2297650"/>
            <a:ext cx="491915" cy="629875"/>
          </a:xfrm>
          <a:prstGeom prst="rect">
            <a:avLst/>
          </a:prstGeom>
        </p:spPr>
      </p:pic>
      <p:pic>
        <p:nvPicPr>
          <p:cNvPr id="125" name="Picture 56" descr="Check mark Computer Icons, Green Tick Mark, angle, text png thumbnail">
            <a:extLst>
              <a:ext uri="{FF2B5EF4-FFF2-40B4-BE49-F238E27FC236}">
                <a16:creationId xmlns:a16="http://schemas.microsoft.com/office/drawing/2014/main" id="{704A3A29-F259-B9C9-CB6B-7BC729843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0" b="98276" l="575" r="99138">
                        <a14:foregroundMark x1="73276" y1="31609" x2="37931" y2="64655"/>
                        <a14:foregroundMark x1="38218" y1="75862" x2="15517" y2="52874"/>
                        <a14:backgroundMark x1="21839" y1="6034" x2="4885" y2="22701"/>
                        <a14:backgroundMark x1="81897" y1="5460" x2="95402" y2="20690"/>
                        <a14:backgroundMark x1="96264" y1="76724" x2="82759" y2="93966"/>
                        <a14:backgroundMark x1="17816" y1="95115" x2="2874" y2="7902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996" y="1606903"/>
            <a:ext cx="171845" cy="17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TextBox 76"/>
          <p:cNvSpPr txBox="1"/>
          <p:nvPr/>
        </p:nvSpPr>
        <p:spPr>
          <a:xfrm>
            <a:off x="736810" y="347571"/>
            <a:ext cx="1080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Pipeline para </a:t>
            </a:r>
            <a:r>
              <a:rPr lang="en-US" sz="2400" dirty="0" err="1" smtClean="0"/>
              <a:t>aplicação</a:t>
            </a:r>
            <a:r>
              <a:rPr lang="en-US" sz="2400" dirty="0" smtClean="0"/>
              <a:t> do </a:t>
            </a:r>
            <a:r>
              <a:rPr lang="en-US" sz="2400" dirty="0" err="1" smtClean="0"/>
              <a:t>algoritmo</a:t>
            </a:r>
            <a:r>
              <a:rPr lang="en-US" sz="2400" dirty="0" smtClean="0"/>
              <a:t> de </a:t>
            </a:r>
            <a:r>
              <a:rPr lang="en-US" sz="2400" dirty="0" err="1" smtClean="0"/>
              <a:t>deteção</a:t>
            </a:r>
            <a:r>
              <a:rPr lang="en-US" sz="2400" dirty="0" smtClean="0"/>
              <a:t> de </a:t>
            </a:r>
            <a:r>
              <a:rPr lang="en-US" sz="2400" dirty="0" err="1" smtClean="0"/>
              <a:t>alterações</a:t>
            </a:r>
            <a:r>
              <a:rPr lang="en-US" sz="2400" dirty="0" smtClean="0"/>
              <a:t> (CCD) </a:t>
            </a:r>
            <a:r>
              <a:rPr lang="en-US" sz="2400" dirty="0" err="1" smtClean="0"/>
              <a:t>ao</a:t>
            </a:r>
            <a:r>
              <a:rPr lang="en-US" sz="2400" dirty="0" smtClean="0"/>
              <a:t> </a:t>
            </a:r>
            <a:r>
              <a:rPr lang="en-US" sz="2400" dirty="0" err="1" smtClean="0"/>
              <a:t>nível</a:t>
            </a:r>
            <a:r>
              <a:rPr lang="en-US" sz="2400" dirty="0" smtClean="0"/>
              <a:t> do pixel</a:t>
            </a:r>
            <a:endParaRPr lang="pt-PT" sz="24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D495F2E-7F8C-39D1-E1D3-3992EFC00C20}"/>
              </a:ext>
            </a:extLst>
          </p:cNvPr>
          <p:cNvSpPr txBox="1"/>
          <p:nvPr/>
        </p:nvSpPr>
        <p:spPr>
          <a:xfrm>
            <a:off x="7085562" y="2720493"/>
            <a:ext cx="10640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Cambria" panose="02040503050406030204" pitchFamily="18" charset="0"/>
                <a:ea typeface="Cambria" panose="02040503050406030204" pitchFamily="18" charset="0"/>
              </a:rPr>
              <a:t>B3,B4,B8,B12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028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Reunião DGT/CNCA/ISA 18 junho 2025</a:t>
            </a:r>
            <a:endParaRPr lang="pt-P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8</a:t>
            </a:fld>
            <a:endParaRPr lang="pt-PT"/>
          </a:p>
        </p:txBody>
      </p:sp>
      <p:sp>
        <p:nvSpPr>
          <p:cNvPr id="9" name="TextBox 8"/>
          <p:cNvSpPr txBox="1"/>
          <p:nvPr/>
        </p:nvSpPr>
        <p:spPr>
          <a:xfrm>
            <a:off x="432252" y="314331"/>
            <a:ext cx="101817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 smtClean="0"/>
              <a:t>Estimativas</a:t>
            </a:r>
            <a:r>
              <a:rPr lang="en-US" sz="2400" b="1" dirty="0" smtClean="0"/>
              <a:t> de </a:t>
            </a:r>
            <a:r>
              <a:rPr lang="en-US" sz="2400" b="1" dirty="0" err="1" smtClean="0"/>
              <a:t>resursos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computacionais</a:t>
            </a:r>
            <a:r>
              <a:rPr lang="en-US" sz="2400" b="1" dirty="0" smtClean="0"/>
              <a:t> para </a:t>
            </a:r>
            <a:r>
              <a:rPr lang="en-US" sz="2400" b="1" dirty="0" err="1" smtClean="0"/>
              <a:t>criação</a:t>
            </a:r>
            <a:r>
              <a:rPr lang="en-US" sz="2400" b="1" dirty="0" smtClean="0"/>
              <a:t> de </a:t>
            </a:r>
            <a:r>
              <a:rPr lang="en-US" sz="2400" b="1" dirty="0" err="1" smtClean="0"/>
              <a:t>uma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cobertura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nacional</a:t>
            </a:r>
            <a:r>
              <a:rPr lang="en-US" sz="2400" b="1" dirty="0" smtClean="0"/>
              <a:t> do </a:t>
            </a:r>
            <a:r>
              <a:rPr lang="en-US" sz="2400" b="1" dirty="0" err="1" smtClean="0"/>
              <a:t>produto</a:t>
            </a:r>
            <a:r>
              <a:rPr lang="en-US" sz="2400" b="1" dirty="0" smtClean="0"/>
              <a:t> (</a:t>
            </a:r>
            <a:r>
              <a:rPr lang="en-US" sz="2400" b="1" dirty="0" err="1" smtClean="0"/>
              <a:t>uma</a:t>
            </a:r>
            <a:r>
              <a:rPr lang="en-US" sz="2400" b="1" dirty="0" smtClean="0"/>
              <a:t> data)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52" y="1742178"/>
            <a:ext cx="11302894" cy="4017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144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Reunião DGT/CNCA/ISA 18 junho 2025</a:t>
            </a:r>
            <a:endParaRPr lang="pt-PT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9</a:t>
            </a:fld>
            <a:endParaRPr lang="pt-PT"/>
          </a:p>
        </p:txBody>
      </p:sp>
      <p:sp>
        <p:nvSpPr>
          <p:cNvPr id="4" name="TextBox 3"/>
          <p:cNvSpPr txBox="1"/>
          <p:nvPr/>
        </p:nvSpPr>
        <p:spPr>
          <a:xfrm>
            <a:off x="421194" y="261187"/>
            <a:ext cx="1061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Processamento</a:t>
            </a:r>
            <a:r>
              <a:rPr lang="en-US" sz="2400" dirty="0" smtClean="0"/>
              <a:t> (2): </a:t>
            </a:r>
            <a:r>
              <a:rPr lang="en-US" sz="2400" dirty="0" err="1" smtClean="0"/>
              <a:t>classificação</a:t>
            </a:r>
            <a:r>
              <a:rPr lang="en-US" sz="2400" dirty="0" smtClean="0"/>
              <a:t> (</a:t>
            </a:r>
            <a:r>
              <a:rPr lang="en-US" sz="2400" dirty="0" err="1" smtClean="0"/>
              <a:t>ao</a:t>
            </a:r>
            <a:r>
              <a:rPr lang="en-US" sz="2400" dirty="0" smtClean="0"/>
              <a:t> </a:t>
            </a:r>
            <a:r>
              <a:rPr lang="en-US" sz="2400" dirty="0" err="1" smtClean="0"/>
              <a:t>nível</a:t>
            </a:r>
            <a:r>
              <a:rPr lang="en-US" sz="2400" dirty="0" smtClean="0"/>
              <a:t> da tile)</a:t>
            </a:r>
            <a:endParaRPr lang="pt-PT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002454" y="1137920"/>
            <a:ext cx="1062736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Para um </a:t>
            </a:r>
            <a:r>
              <a:rPr lang="en-US" dirty="0" err="1" smtClean="0"/>
              <a:t>intervalo</a:t>
            </a:r>
            <a:r>
              <a:rPr lang="en-US" dirty="0" smtClean="0"/>
              <a:t> de tempo [</a:t>
            </a:r>
            <a:r>
              <a:rPr lang="en-US" dirty="0" err="1" smtClean="0"/>
              <a:t>2017,T</a:t>
            </a:r>
            <a:r>
              <a:rPr lang="en-US" dirty="0" smtClean="0"/>
              <a:t>]:</a:t>
            </a:r>
          </a:p>
          <a:p>
            <a:endParaRPr lang="en-US" dirty="0"/>
          </a:p>
          <a:p>
            <a:pPr marL="342900" indent="-342900">
              <a:buAutoNum type="alphaLcParenR"/>
            </a:pPr>
            <a:r>
              <a:rPr lang="en-US" dirty="0" err="1" smtClean="0"/>
              <a:t>Determinação</a:t>
            </a:r>
            <a:r>
              <a:rPr lang="en-US" dirty="0" smtClean="0"/>
              <a:t> da data </a:t>
            </a:r>
            <a:r>
              <a:rPr lang="en-US" dirty="0" err="1" smtClean="0"/>
              <a:t>provável</a:t>
            </a:r>
            <a:r>
              <a:rPr lang="en-US" dirty="0" smtClean="0"/>
              <a:t> de </a:t>
            </a:r>
            <a:r>
              <a:rPr lang="en-US" dirty="0" err="1" smtClean="0"/>
              <a:t>alteração</a:t>
            </a:r>
            <a:r>
              <a:rPr lang="en-US" dirty="0" smtClean="0"/>
              <a:t>:</a:t>
            </a:r>
          </a:p>
          <a:p>
            <a:pPr marL="857250" lvl="1" indent="-400050">
              <a:buAutoNum type="romanLcParenR"/>
            </a:pPr>
            <a:r>
              <a:rPr lang="en-US" dirty="0" err="1" smtClean="0"/>
              <a:t>nível</a:t>
            </a:r>
            <a:r>
              <a:rPr lang="en-US" dirty="0" smtClean="0"/>
              <a:t> do pixel: data </a:t>
            </a:r>
            <a:r>
              <a:rPr lang="en-US" dirty="0" err="1" smtClean="0"/>
              <a:t>devolvida</a:t>
            </a:r>
            <a:r>
              <a:rPr lang="en-US" dirty="0" smtClean="0"/>
              <a:t> para CCD</a:t>
            </a:r>
          </a:p>
          <a:p>
            <a:pPr marL="857250" lvl="1" indent="-400050">
              <a:buAutoNum type="romanLcParenR"/>
            </a:pPr>
            <a:r>
              <a:rPr lang="en-US" dirty="0" err="1" smtClean="0"/>
              <a:t>nível</a:t>
            </a:r>
            <a:r>
              <a:rPr lang="en-US" dirty="0" smtClean="0"/>
              <a:t> do cluster de pixels. </a:t>
            </a:r>
            <a:r>
              <a:rPr lang="en-US" dirty="0" err="1" smtClean="0"/>
              <a:t>Possível</a:t>
            </a:r>
            <a:r>
              <a:rPr lang="en-US" dirty="0" smtClean="0"/>
              <a:t> </a:t>
            </a:r>
            <a:r>
              <a:rPr lang="en-US" dirty="0" err="1" smtClean="0"/>
              <a:t>aboradagem</a:t>
            </a:r>
            <a:r>
              <a:rPr lang="en-US" dirty="0" smtClean="0"/>
              <a:t>: </a:t>
            </a:r>
            <a:r>
              <a:rPr lang="en-US" dirty="0" err="1" smtClean="0"/>
              <a:t>componentes</a:t>
            </a:r>
            <a:r>
              <a:rPr lang="en-US" dirty="0" smtClean="0"/>
              <a:t> </a:t>
            </a:r>
            <a:r>
              <a:rPr lang="en-US" dirty="0" err="1" smtClean="0"/>
              <a:t>conexos</a:t>
            </a:r>
            <a:r>
              <a:rPr lang="en-US" dirty="0" smtClean="0"/>
              <a:t> 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comunidades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grafos</a:t>
            </a:r>
            <a:r>
              <a:rPr lang="en-US" dirty="0" smtClean="0"/>
              <a:t> (G,E) </a:t>
            </a:r>
            <a:r>
              <a:rPr lang="en-US" dirty="0" err="1" smtClean="0"/>
              <a:t>em</a:t>
            </a:r>
            <a:r>
              <a:rPr lang="en-US" dirty="0" smtClean="0"/>
              <a:t> que G </a:t>
            </a:r>
            <a:r>
              <a:rPr lang="en-US" dirty="0" err="1" smtClean="0"/>
              <a:t>corresponde</a:t>
            </a:r>
            <a:r>
              <a:rPr lang="en-US" dirty="0" smtClean="0"/>
              <a:t> a </a:t>
            </a:r>
            <a:r>
              <a:rPr lang="en-US" dirty="0" err="1" smtClean="0"/>
              <a:t>eventos</a:t>
            </a:r>
            <a:r>
              <a:rPr lang="en-US" dirty="0" smtClean="0"/>
              <a:t> (</a:t>
            </a:r>
            <a:r>
              <a:rPr lang="en-US" dirty="0" err="1" smtClean="0"/>
              <a:t>x_coord,y_coord</a:t>
            </a:r>
            <a:r>
              <a:rPr lang="en-US" dirty="0" smtClean="0"/>
              <a:t>, </a:t>
            </a:r>
            <a:r>
              <a:rPr lang="en-US" dirty="0" err="1" smtClean="0"/>
              <a:t>data_alteracao</a:t>
            </a:r>
            <a:r>
              <a:rPr lang="en-US" dirty="0" smtClean="0"/>
              <a:t>) e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vértices</a:t>
            </a:r>
            <a:r>
              <a:rPr lang="en-US" dirty="0" smtClean="0"/>
              <a:t> </a:t>
            </a:r>
            <a:r>
              <a:rPr lang="en-US" dirty="0" err="1" smtClean="0"/>
              <a:t>unem</a:t>
            </a:r>
            <a:r>
              <a:rPr lang="en-US" dirty="0" smtClean="0"/>
              <a:t> </a:t>
            </a:r>
            <a:r>
              <a:rPr lang="en-US" dirty="0" err="1" smtClean="0"/>
              <a:t>dois</a:t>
            </a:r>
            <a:r>
              <a:rPr lang="en-US" dirty="0" smtClean="0"/>
              <a:t> </a:t>
            </a:r>
            <a:r>
              <a:rPr lang="en-US" dirty="0" err="1" smtClean="0"/>
              <a:t>evento</a:t>
            </a:r>
            <a:r>
              <a:rPr lang="en-US" dirty="0" smtClean="0"/>
              <a:t> </a:t>
            </a:r>
            <a:r>
              <a:rPr lang="en-US" dirty="0" err="1" smtClean="0"/>
              <a:t>vizinhos</a:t>
            </a:r>
            <a:r>
              <a:rPr lang="en-US" dirty="0" smtClean="0"/>
              <a:t> no </a:t>
            </a:r>
            <a:r>
              <a:rPr lang="en-US" dirty="0" err="1" smtClean="0"/>
              <a:t>espaço</a:t>
            </a:r>
            <a:r>
              <a:rPr lang="en-US" dirty="0" smtClean="0"/>
              <a:t> e </a:t>
            </a:r>
            <a:r>
              <a:rPr lang="en-US" dirty="0" err="1" smtClean="0"/>
              <a:t>próximos</a:t>
            </a:r>
            <a:r>
              <a:rPr lang="en-US" dirty="0" smtClean="0"/>
              <a:t> no tempo. A </a:t>
            </a:r>
            <a:r>
              <a:rPr lang="en-US" dirty="0" err="1" smtClean="0"/>
              <a:t>utilização</a:t>
            </a:r>
            <a:r>
              <a:rPr lang="en-US" dirty="0" smtClean="0"/>
              <a:t> de </a:t>
            </a:r>
            <a:r>
              <a:rPr lang="en-US" dirty="0" err="1" smtClean="0"/>
              <a:t>grafos</a:t>
            </a:r>
            <a:r>
              <a:rPr lang="en-US" dirty="0" smtClean="0"/>
              <a:t> é </a:t>
            </a:r>
            <a:r>
              <a:rPr lang="en-US" dirty="0" err="1" smtClean="0"/>
              <a:t>tipicamente</a:t>
            </a:r>
            <a:r>
              <a:rPr lang="en-US" dirty="0" smtClean="0"/>
              <a:t> </a:t>
            </a:r>
            <a:r>
              <a:rPr lang="en-US" dirty="0" err="1" smtClean="0"/>
              <a:t>exigente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memória</a:t>
            </a:r>
            <a:r>
              <a:rPr lang="en-US" dirty="0"/>
              <a:t>.</a:t>
            </a:r>
            <a:endParaRPr lang="en-US" dirty="0" smtClean="0"/>
          </a:p>
          <a:p>
            <a:pPr marL="857250" lvl="1" indent="-400050">
              <a:buAutoNum type="romanLcParenR"/>
            </a:pPr>
            <a:endParaRPr lang="en-US" dirty="0"/>
          </a:p>
          <a:p>
            <a:pPr marL="400050" indent="-400050">
              <a:buAutoNum type="alphaLcParenR"/>
            </a:pPr>
            <a:r>
              <a:rPr lang="en-US" dirty="0" err="1" smtClean="0"/>
              <a:t>Criação</a:t>
            </a:r>
            <a:r>
              <a:rPr lang="en-US" dirty="0" smtClean="0"/>
              <a:t> de </a:t>
            </a:r>
            <a:r>
              <a:rPr lang="en-US" dirty="0" err="1" smtClean="0"/>
              <a:t>compótito</a:t>
            </a:r>
            <a:r>
              <a:rPr lang="en-US" dirty="0" smtClean="0"/>
              <a:t> temporal (</a:t>
            </a:r>
            <a:r>
              <a:rPr lang="en-US" dirty="0" err="1" smtClean="0"/>
              <a:t>pré</a:t>
            </a:r>
            <a:r>
              <a:rPr lang="en-US" dirty="0" smtClean="0"/>
              <a:t>/</a:t>
            </a:r>
            <a:r>
              <a:rPr lang="en-US" dirty="0" err="1" smtClean="0"/>
              <a:t>pós</a:t>
            </a:r>
            <a:r>
              <a:rPr lang="en-US" dirty="0" smtClean="0"/>
              <a:t>) </a:t>
            </a:r>
            <a:r>
              <a:rPr lang="en-US" dirty="0" err="1" smtClean="0"/>
              <a:t>usando</a:t>
            </a:r>
            <a:r>
              <a:rPr lang="en-US" dirty="0" smtClean="0"/>
              <a:t> data de </a:t>
            </a:r>
            <a:r>
              <a:rPr lang="en-US" dirty="0" err="1" smtClean="0"/>
              <a:t>alteração</a:t>
            </a:r>
            <a:r>
              <a:rPr lang="en-US" dirty="0" smtClean="0"/>
              <a:t> </a:t>
            </a:r>
            <a:r>
              <a:rPr lang="en-US" dirty="0" err="1" smtClean="0"/>
              <a:t>mais</a:t>
            </a:r>
            <a:r>
              <a:rPr lang="en-US" dirty="0" smtClean="0"/>
              <a:t> </a:t>
            </a:r>
            <a:r>
              <a:rPr lang="en-US" dirty="0" err="1" smtClean="0"/>
              <a:t>recente</a:t>
            </a:r>
            <a:endParaRPr lang="en-US" dirty="0" smtClean="0"/>
          </a:p>
          <a:p>
            <a:pPr marL="342900" indent="-342900">
              <a:buAutoNum type="alphaLcParenR"/>
            </a:pPr>
            <a:endParaRPr lang="en-US" dirty="0"/>
          </a:p>
          <a:p>
            <a:pPr marL="342900" indent="-342900">
              <a:buAutoNum type="alphaLcParenR"/>
            </a:pPr>
            <a:r>
              <a:rPr lang="en-US" dirty="0" err="1" smtClean="0"/>
              <a:t>Classificação</a:t>
            </a:r>
            <a:endParaRPr lang="en-US" dirty="0" smtClean="0"/>
          </a:p>
          <a:p>
            <a:pPr marL="857250" lvl="1" indent="-400050">
              <a:buAutoNum type="romanLcParenR"/>
            </a:pPr>
            <a:r>
              <a:rPr lang="en-US" dirty="0" err="1" smtClean="0"/>
              <a:t>criação</a:t>
            </a:r>
            <a:r>
              <a:rPr lang="en-US" dirty="0" smtClean="0"/>
              <a:t> de “image patches” (e.g. </a:t>
            </a:r>
            <a:r>
              <a:rPr lang="en-US" dirty="0" err="1" smtClean="0"/>
              <a:t>160x160</a:t>
            </a:r>
            <a:r>
              <a:rPr lang="en-US" dirty="0" smtClean="0"/>
              <a:t>, 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256x256</a:t>
            </a:r>
            <a:r>
              <a:rPr lang="en-US" dirty="0" smtClean="0"/>
              <a:t>) de </a:t>
            </a:r>
            <a:r>
              <a:rPr lang="en-US" dirty="0" err="1" smtClean="0"/>
              <a:t>Bandas</a:t>
            </a:r>
            <a:r>
              <a:rPr lang="en-US" dirty="0" smtClean="0"/>
              <a:t> (</a:t>
            </a:r>
            <a:r>
              <a:rPr lang="en-US" dirty="0" err="1" smtClean="0"/>
              <a:t>pré,pós</a:t>
            </a:r>
            <a:r>
              <a:rPr lang="en-US" dirty="0" smtClean="0"/>
              <a:t>) e </a:t>
            </a:r>
            <a:r>
              <a:rPr lang="en-US" dirty="0" err="1" smtClean="0"/>
              <a:t>Máscara</a:t>
            </a:r>
            <a:r>
              <a:rPr lang="en-US" dirty="0" smtClean="0"/>
              <a:t> (</a:t>
            </a:r>
            <a:r>
              <a:rPr lang="en-US" dirty="0" err="1" smtClean="0"/>
              <a:t>alteração</a:t>
            </a:r>
            <a:r>
              <a:rPr lang="en-US" dirty="0" smtClean="0"/>
              <a:t>/</a:t>
            </a:r>
            <a:r>
              <a:rPr lang="en-US" dirty="0" err="1" smtClean="0"/>
              <a:t>não</a:t>
            </a:r>
            <a:r>
              <a:rPr lang="en-US" dirty="0" smtClean="0"/>
              <a:t> </a:t>
            </a:r>
            <a:r>
              <a:rPr lang="en-US" dirty="0" err="1" smtClean="0"/>
              <a:t>alteração</a:t>
            </a:r>
            <a:r>
              <a:rPr lang="en-US" dirty="0" smtClean="0"/>
              <a:t>) </a:t>
            </a:r>
            <a:r>
              <a:rPr lang="en-US" dirty="0" err="1" smtClean="0"/>
              <a:t>usando</a:t>
            </a:r>
            <a:r>
              <a:rPr lang="en-US" dirty="0" smtClean="0"/>
              <a:t> dados de </a:t>
            </a:r>
            <a:r>
              <a:rPr lang="en-US" dirty="0" err="1" smtClean="0"/>
              <a:t>referência</a:t>
            </a:r>
            <a:endParaRPr lang="en-US" dirty="0" smtClean="0"/>
          </a:p>
          <a:p>
            <a:pPr marL="857250" lvl="1" indent="-400050">
              <a:buAutoNum type="romanLcParenR"/>
            </a:pPr>
            <a:r>
              <a:rPr lang="en-US" dirty="0" smtClean="0"/>
              <a:t>upload de Foundation Model</a:t>
            </a:r>
          </a:p>
          <a:p>
            <a:pPr marL="857250" lvl="1" indent="-400050">
              <a:buAutoNum type="romanLcParenR"/>
            </a:pPr>
            <a:r>
              <a:rPr lang="en-US" dirty="0" smtClean="0"/>
              <a:t>fine-tuning </a:t>
            </a:r>
          </a:p>
          <a:p>
            <a:pPr marL="857250" lvl="1" indent="-400050">
              <a:buAutoNum type="romanLcParenR"/>
            </a:pPr>
            <a:r>
              <a:rPr lang="en-US" dirty="0" err="1" smtClean="0"/>
              <a:t>predição</a:t>
            </a:r>
            <a:endParaRPr lang="pt-PT" dirty="0" smtClean="0"/>
          </a:p>
          <a:p>
            <a:pPr marL="857250" lvl="1" indent="-400050">
              <a:buAutoNum type="romanLcParenR"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389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 smtClean="0"/>
              <a:t>Reunião DGT/CNCA/ISA 18 junho 2025</a:t>
            </a:r>
            <a:endParaRPr lang="pt-PT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1D2E9-C720-4BE3-A710-5EBD8EAFCF68}" type="slidenum">
              <a:rPr lang="pt-PT" smtClean="0"/>
              <a:t>10</a:t>
            </a:fld>
            <a:endParaRPr lang="pt-PT"/>
          </a:p>
        </p:txBody>
      </p:sp>
      <p:sp>
        <p:nvSpPr>
          <p:cNvPr id="4" name="TextBox 3"/>
          <p:cNvSpPr txBox="1"/>
          <p:nvPr/>
        </p:nvSpPr>
        <p:spPr>
          <a:xfrm>
            <a:off x="1131147" y="860213"/>
            <a:ext cx="1022265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Algumas</a:t>
            </a:r>
            <a:r>
              <a:rPr lang="en-US" dirty="0" smtClean="0"/>
              <a:t> </a:t>
            </a:r>
            <a:r>
              <a:rPr lang="en-US" dirty="0" err="1" smtClean="0"/>
              <a:t>questões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1. </a:t>
            </a:r>
            <a:r>
              <a:rPr lang="en-US" dirty="0" err="1" smtClean="0"/>
              <a:t>Integração</a:t>
            </a:r>
            <a:r>
              <a:rPr lang="en-US" dirty="0" smtClean="0"/>
              <a:t> </a:t>
            </a:r>
            <a:r>
              <a:rPr lang="en-US" dirty="0" err="1" smtClean="0"/>
              <a:t>deste</a:t>
            </a:r>
            <a:r>
              <a:rPr lang="en-US" dirty="0" smtClean="0"/>
              <a:t> </a:t>
            </a:r>
            <a:r>
              <a:rPr lang="en-US" dirty="0" err="1" smtClean="0"/>
              <a:t>projeto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pipeline de </a:t>
            </a:r>
            <a:r>
              <a:rPr lang="en-US" dirty="0" err="1" smtClean="0"/>
              <a:t>obtenção</a:t>
            </a:r>
            <a:r>
              <a:rPr lang="en-US" dirty="0" smtClean="0"/>
              <a:t> de </a:t>
            </a:r>
            <a:r>
              <a:rPr lang="en-US" dirty="0" err="1" smtClean="0"/>
              <a:t>imagens</a:t>
            </a:r>
            <a:r>
              <a:rPr lang="en-US" dirty="0" smtClean="0"/>
              <a:t> Sentinel-2 do CNCA </a:t>
            </a:r>
          </a:p>
          <a:p>
            <a:endParaRPr lang="en-US" dirty="0" smtClean="0"/>
          </a:p>
          <a:p>
            <a:r>
              <a:rPr lang="en-US" dirty="0" smtClean="0"/>
              <a:t>2. </a:t>
            </a:r>
            <a:r>
              <a:rPr lang="en-US" dirty="0" err="1" smtClean="0"/>
              <a:t>Possibilidade</a:t>
            </a:r>
            <a:r>
              <a:rPr lang="en-US" dirty="0" smtClean="0"/>
              <a:t> de </a:t>
            </a:r>
            <a:r>
              <a:rPr lang="en-US" dirty="0" err="1" smtClean="0"/>
              <a:t>prolongar</a:t>
            </a:r>
            <a:r>
              <a:rPr lang="en-US" dirty="0" smtClean="0"/>
              <a:t> o </a:t>
            </a:r>
            <a:r>
              <a:rPr lang="en-US" dirty="0" err="1" smtClean="0"/>
              <a:t>projeto</a:t>
            </a:r>
            <a:r>
              <a:rPr lang="en-US" dirty="0" smtClean="0"/>
              <a:t> </a:t>
            </a:r>
            <a:r>
              <a:rPr lang="pt-PT" b="1" dirty="0" smtClean="0"/>
              <a:t>2024.07034.CPCA.A0? </a:t>
            </a:r>
            <a:r>
              <a:rPr lang="pt-PT" dirty="0" smtClean="0"/>
              <a:t>Vários conjuntos de dados já disponíveis na plataforma.</a:t>
            </a:r>
            <a:endParaRPr lang="pt-PT" b="1" dirty="0"/>
          </a:p>
          <a:p>
            <a:endParaRPr lang="en-US" dirty="0" smtClean="0"/>
          </a:p>
          <a:p>
            <a:r>
              <a:rPr lang="en-US" dirty="0" smtClean="0"/>
              <a:t>O INCD </a:t>
            </a:r>
            <a:r>
              <a:rPr lang="en-US" dirty="0" err="1" smtClean="0"/>
              <a:t>permitiu</a:t>
            </a:r>
            <a:r>
              <a:rPr lang="en-US" dirty="0" smtClean="0"/>
              <a:t> </a:t>
            </a:r>
            <a:r>
              <a:rPr lang="en-US" dirty="0" err="1" smtClean="0"/>
              <a:t>aumentar</a:t>
            </a:r>
            <a:r>
              <a:rPr lang="en-US" dirty="0" smtClean="0"/>
              <a:t>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recursos</a:t>
            </a:r>
            <a:r>
              <a:rPr lang="en-US" dirty="0" smtClean="0"/>
              <a:t> para 24 10^6 cores-</a:t>
            </a:r>
            <a:r>
              <a:rPr lang="en-US" dirty="0" err="1" smtClean="0"/>
              <a:t>minutos</a:t>
            </a:r>
            <a:r>
              <a:rPr lang="en-US" dirty="0" smtClean="0"/>
              <a:t> (</a:t>
            </a:r>
            <a:r>
              <a:rPr lang="en-US" dirty="0" err="1" smtClean="0"/>
              <a:t>ainda</a:t>
            </a:r>
            <a:r>
              <a:rPr lang="en-US" dirty="0" smtClean="0"/>
              <a:t> </a:t>
            </a:r>
            <a:r>
              <a:rPr lang="en-US" dirty="0" err="1" smtClean="0"/>
              <a:t>está</a:t>
            </a:r>
            <a:r>
              <a:rPr lang="en-US" dirty="0" smtClean="0"/>
              <a:t> </a:t>
            </a:r>
            <a:r>
              <a:rPr lang="en-US" dirty="0" err="1" smtClean="0"/>
              <a:t>disponível</a:t>
            </a:r>
            <a:r>
              <a:rPr lang="en-US" dirty="0" smtClean="0"/>
              <a:t> ~12 10^6 cores-</a:t>
            </a:r>
            <a:r>
              <a:rPr lang="en-US" dirty="0" err="1" smtClean="0"/>
              <a:t>minutos</a:t>
            </a:r>
            <a:r>
              <a:rPr lang="en-US" dirty="0" smtClean="0"/>
              <a:t>) e a </a:t>
            </a:r>
            <a:r>
              <a:rPr lang="en-US" dirty="0" err="1" smtClean="0"/>
              <a:t>cota</a:t>
            </a:r>
            <a:r>
              <a:rPr lang="en-US" dirty="0" smtClean="0"/>
              <a:t> para 18 TB, e </a:t>
            </a:r>
            <a:r>
              <a:rPr lang="en-US" dirty="0" err="1" smtClean="0"/>
              <a:t>temos</a:t>
            </a:r>
            <a:r>
              <a:rPr lang="en-US" dirty="0" smtClean="0"/>
              <a:t> </a:t>
            </a:r>
            <a:r>
              <a:rPr lang="en-US" dirty="0" err="1" smtClean="0"/>
              <a:t>tido</a:t>
            </a:r>
            <a:r>
              <a:rPr lang="en-US" dirty="0" smtClean="0"/>
              <a:t> </a:t>
            </a:r>
            <a:r>
              <a:rPr lang="en-US" dirty="0" err="1" smtClean="0"/>
              <a:t>apoio</a:t>
            </a:r>
            <a:r>
              <a:rPr lang="en-US" dirty="0" smtClean="0"/>
              <a:t> </a:t>
            </a:r>
            <a:r>
              <a:rPr lang="en-US" dirty="0" err="1" smtClean="0"/>
              <a:t>técnico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3</a:t>
            </a:r>
            <a:r>
              <a:rPr lang="en-US" dirty="0" smtClean="0"/>
              <a:t>. </a:t>
            </a:r>
            <a:r>
              <a:rPr lang="en-US" dirty="0" err="1" smtClean="0"/>
              <a:t>Acesso</a:t>
            </a:r>
            <a:r>
              <a:rPr lang="en-US" dirty="0" smtClean="0"/>
              <a:t> a GPU?</a:t>
            </a:r>
          </a:p>
          <a:p>
            <a:endParaRPr lang="en-US" dirty="0"/>
          </a:p>
          <a:p>
            <a:r>
              <a:rPr lang="en-US" dirty="0" smtClean="0"/>
              <a:t>4. </a:t>
            </a:r>
            <a:r>
              <a:rPr lang="en-US" dirty="0" err="1" smtClean="0"/>
              <a:t>Apoio</a:t>
            </a:r>
            <a:r>
              <a:rPr lang="en-US" dirty="0" smtClean="0"/>
              <a:t> </a:t>
            </a:r>
            <a:r>
              <a:rPr lang="en-US" dirty="0" err="1" smtClean="0"/>
              <a:t>técnico</a:t>
            </a:r>
            <a:r>
              <a:rPr lang="en-US" dirty="0" smtClean="0"/>
              <a:t> para GPU</a:t>
            </a:r>
          </a:p>
          <a:p>
            <a:endParaRPr lang="en-US" dirty="0"/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017705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be83b0c-0405-4723-b875-82bda161353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D6BFED41370AC48BE74E3C2CE93F4D0" ma:contentTypeVersion="19" ma:contentTypeDescription="Criar um novo documento." ma:contentTypeScope="" ma:versionID="f294551960d69f8404ab5d9fc418fe71">
  <xsd:schema xmlns:xsd="http://www.w3.org/2001/XMLSchema" xmlns:xs="http://www.w3.org/2001/XMLSchema" xmlns:p="http://schemas.microsoft.com/office/2006/metadata/properties" xmlns:ns3="0be83b0c-0405-4723-b875-82bda161353b" xmlns:ns4="66ce7efa-e57e-4960-8447-f5b52aef20eb" targetNamespace="http://schemas.microsoft.com/office/2006/metadata/properties" ma:root="true" ma:fieldsID="591eb1a08e1d23b6c00c2c5d09e7c3af" ns3:_="" ns4:_="">
    <xsd:import namespace="0be83b0c-0405-4723-b875-82bda161353b"/>
    <xsd:import namespace="66ce7efa-e57e-4960-8447-f5b52aef20e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LengthInSeconds" minOccurs="0"/>
                <xsd:element ref="ns3:MediaServiceSearchPropertie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e83b0c-0405-4723-b875-82bda16135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ce7efa-e57e-4960-8447-f5b52aef20eb" elementFormDefault="qualified">
    <xsd:import namespace="http://schemas.microsoft.com/office/2006/documentManagement/types"/>
    <xsd:import namespace="http://schemas.microsoft.com/office/infopath/2007/PartnerControls"/>
    <xsd:element name="SharedWithUsers" ma:index="21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3" nillable="true" ma:displayName="Hash de Sugestão de Partilha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E379B5-2962-4EF3-9CD5-34EF50C4D25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D1A320A-88FE-44B0-8BBA-8C2220E2FE3D}">
  <ds:schemaRefs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elements/1.1/"/>
    <ds:schemaRef ds:uri="http://purl.org/dc/terms/"/>
    <ds:schemaRef ds:uri="0be83b0c-0405-4723-b875-82bda161353b"/>
    <ds:schemaRef ds:uri="http://schemas.microsoft.com/office/2006/documentManagement/types"/>
    <ds:schemaRef ds:uri="http://schemas.microsoft.com/office/infopath/2007/PartnerControls"/>
    <ds:schemaRef ds:uri="66ce7efa-e57e-4960-8447-f5b52aef20eb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28C6351-BE6E-435B-8230-39EF0F6C7E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be83b0c-0405-4723-b875-82bda161353b"/>
    <ds:schemaRef ds:uri="66ce7efa-e57e-4960-8447-f5b52aef20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652</Words>
  <Application>Microsoft Office PowerPoint</Application>
  <PresentationFormat>Widescreen</PresentationFormat>
  <Paragraphs>99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</vt:lpstr>
      <vt:lpstr>Office Theme</vt:lpstr>
      <vt:lpstr>Reunião DGT/CNCA/ISA, 18 d ejunho de 2025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DGT 19 de junho de 2024</dc:title>
  <dc:creator>Manuel Lameiras De Figueiredo Campagnolo</dc:creator>
  <cp:lastModifiedBy>Manuel Lameiras De Figueiredo</cp:lastModifiedBy>
  <cp:revision>19</cp:revision>
  <dcterms:created xsi:type="dcterms:W3CDTF">2024-06-19T07:46:22Z</dcterms:created>
  <dcterms:modified xsi:type="dcterms:W3CDTF">2025-06-18T12:25:32Z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0x0101006D6BFED41370AC48BE74E3C2CE93F4D0</vt:lpwstr>
  </property>
</Properties>
</file>